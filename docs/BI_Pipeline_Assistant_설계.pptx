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9aea868d-9442-d261-afb5-5c0a855e05aa}">
          <p14:sldIdLst>
            <p14:sldId id="256"/>
          </p14:sldIdLst>
        </p14:section>
        <p14:section name="문제와 결정" id="{7dcfbcec-e7b4-d323-7860-3dc8c8073c34}">
          <p14:sldIdLst>
            <p14:sldId id="257"/>
            <p14:sldId id="258"/>
          </p14:sldIdLst>
        </p14:section>
        <p14:section name="구조" id="{630915f8-e4c3-7665-f7c8-c2389302639c}">
          <p14:sldIdLst>
            <p14:sldId id="259"/>
            <p14:sldId id="260"/>
          </p14:sldIdLst>
        </p14:section>
        <p14:section name="기능별 설계" id="{bdac5e5d-4db3-c11a-768e-848b80c7a305}">
          <p14:sldIdLst>
            <p14:sldId id="261"/>
            <p14:sldId id="262"/>
            <p14:sldId id="263"/>
          </p14:sldIdLst>
        </p14:section>
        <p14:section name="AI와 지식" id="{c6af807b-4c54-b428-14fb-7d09011c3df7}">
          <p14:sldIdLst>
            <p14:sldId id="264"/>
            <p14:sldId id="265"/>
          </p14:sldIdLst>
        </p14:section>
        <p14:section name="화면과 안전장치" id="{21e3ee98-4543-db34-4020-fa5fab8807c5}">
          <p14:sldIdLst>
            <p14:sldId id="266"/>
            <p14:sldId id="267"/>
          </p14:sldIdLst>
        </p14:section>
        <p14:section name="마무리" id="{ec5af958-af4e-1f8b-b8b8-0e6aeb183b3c}">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제가 만든 BI Pipeline Assistant가 '어떻게 설계됐는지'를 쉽게 설명드리겠습니다.
한 문장으로 말하면, 생물정보 분석 파이프라인을 R과 Python 사이에서 변환하고, 두 파이프라인을 비교하고, 비전공자도 parameter를 조정할 수 있게 도와주는 웹 도구입니다.
기능 자체보다는 '왜 이렇게 만들었는지'에 집중해서 말씀드리고, 마지막에 실제 화면으로 데모를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도구는 제가 실제로 반복하던 세 가지 작업에서 출발했습니다.
첫째, R로 된 파이프라인을 Python으로, 또는 그 반대로 옮기는 일입니다. Seurat의 FindClusters가 scanpy에서는 무엇인지 매번 찾아야 했습니다.
둘째, 인터넷에서 가져온 파이프라인과 내 파이프라인을 비교하는 일입니다. doublet 제거 같은 단계를 빠뜨렸는지 눈으로 찾는 게 오래 걸렸습니다.
셋째, 비전공자 분들이 '어떤 값을 바꿔야 결과가 달라지나요?'라고 물어보실 때입니다. 우리는 알지만, 처음 보는 분은 코드 어디를 봐야 할지 모릅니다.
이 세 가지가 각각 앱의 ①, ②, ③ 기능이 됐습니다.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고민한 건 '세 기능을 하나로 만들까, 셋으로 만들까'였습니다.
A안처럼 따로 만들면, 세 기능 모두 '파이프라인 코드를 읽고 이해하는 부분'이 필요하기 때문에 같은 걸 세 번 만들게 됩니다.
B안처럼 AI 하나에게 '알아서 판단해'라고 맡기면 멋있어 보이지만, 발표 도중 AI가 엉뚱한 기능을 고르면 곤란합니다.
그래서 C안을 골랐습니다. 코드를 읽는 '공통 코어'는 한 번만 만들고, 기능은 탭 3개로 나눠서 사용자가 직접 고르게 했습니다. 만드는 사람도 편하고, 쓰는 사람도 예측 가능합니다.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전체 구조입니다. 왼쪽에서 오른쪽으로 흐릅니다.
먼저 사용자가 파일을 넣습니다. R, Python, R Markdown, 주피터 노트북 모두 됩니다.
'코드 읽기' 단계에서 파일 형식에 상관없이 순수한 코드만 꺼내고, AI 없이도 parameter 위치를 미리 찾아둡니다.
그다음 '설계도 만들기' 단계에서 AI가 코드를 읽고 'PipelineIR'이라는 설계도를 만듭니다. 이 설계도가 핵심입니다.
세 기능은 모두 이 같은 설계도를 받아서 각자 일을 하고, 결과를 웹 화면에 보여줍니다.
비유하자면, 같은 건축 설계도를 보고 한 사람은 다른 나라 규격으로 바꾸고, 한 사람은 다른 설계도와 비교하고, 한 사람은 바꿀 수 있는 부분에 형광펜을 칠하는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PipelineIR은 이 프로젝트의 핵심 아이디어입니다.
코드는 사람마다 쓰는 방식이 다르고 R과 Python은 문법도 다릅니다. 그래서 바로 비교하거나 변환하기 어렵습니다.
그래서 먼저 코드를 '단계 목록'이라는 공통 형식으로 정리합니다. 오른쪽 예시처럼 '클러스터링 단계는 22~24줄에 있고, FindClusters를 쓰며, resolution이 0.5다' 같은 정보입니다.
parameter 위치는 AI가 틀릴 수 있어서, 프로그램이 코드를 직접 분석해서 정확한 줄 번호를 먼저 찾고 그걸 AI에게 힌트로 줍니다. 정확해야 하는 건 프로그램이, 의미를 이해하는 건 AI가 맡는 분업입니다.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기능인 변환은 세 기능 중 유일하게 '에이전트'입니다.
보통 AI 번역은 한 번 번역하고 끝나지만, 코드는 실행해 봐야 맞는지 압니다. 그래서 왼쪽처럼 '변환 → 실행 → 에러가 나면 에러 메시지를 AI에게 보내서 수정 → 다시 실행'을 최대 3번 반복합니다. 사람이 디버깅하는 과정을 그대로 따라 한 겁니다.
또 AI가 아무렇게나 바꾸지 않도록, 오른쪽처럼 'Seurat는 scanpy, FindClusters는 leiden' 같은 대응표를 미리 알려줍니다.
그리고 Seurat는 유전자×세포, scanpy는 세포×유전자처럼 결과가 달라질 수 있는 부분은 '주의사항'으로 따로 알려줍니다.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기능인 비교의 핵심은 '표준 단계표'입니다.
R 코드와 Python 코드는 함수 이름이 전혀 달라서, 줄 단위로 비교하면 전부 다르다고 나옵니다. 그래서 QC, doublet 제거, 정규화, 클러스터링처럼 scRNA-seq 분석의 표준 단계 목록을 미리 정해두고, 두 파이프라인의 각 단계를 이 목록에 맞춰 줄 세웁니다.
그러면 이 표처럼 '동일 / 차이 / A에만 / B에만'으로 깔끔하게 분류됩니다. 예제에서는 B에만 doublet 제거가 있고, 클러스터링은 알고리즘과 resolution이 다르다는 걸 찾아냅니다.
그리고 빠진 단계는 설명만 하는 게 아니라 바로 붙여넣을 수 있는 코드로 제안합니다. 결과 품질에 영향이 큰 QC나 정규화 단계부터 우선 제안하도록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기능은 비전공자 분들을 위한 parameter 가이드입니다.
설계상 중요한 점은 '두 가지 길'이 있다는 겁니다. API 키가 있으면 AI가 코드를 읽고 '이 값을 올리면 클러스터가 늘어난다' 같은 쉬운 설명을 만들어 줍니다.
API 키가 없어도 동작하도록 오프라인 모드도 만들었습니다. 프로그램이 코드에서 parameter 위치를 찾고, 제가 미리 정리해 둔 추천값 파일과 연결합니다. 그래서 비용 없이도 기본 기능은 쓸 수 있고, 발표장 인터넷이 끊겨도 시연할 수 있습니다.
중요도는 '어떤 세포를 남기고 어떻게 묶이는지에 영향을 주면 높음'으로 정했습니다. 예를 들어 percent.mt나 resolution은 높음, UMAP 모양만 바꾸는 min_dist는 낮음입니다.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AI를 부르는 코드는 llm.py라는 파일 하나에 모았습니다.
첫째, AI에게 자유롭게 글을 쓰게 하지 않고 정해진 양식으로 답하게 했습니다. 예를 들어 비교 결과는 '카테고리, 상태, 차이점' 칸이 있는 양식으로만 받습니다. 그래서 결과가 매번 표와 색 배지로 깔끔하게 나옵니다.
둘째, 처음엔 Claude로 만들었는데 OpenAI 크레딧을 쓰고 싶어서 GPT를 추가했습니다. 이때 다른 파일은 거의 건드리지 않고 이 파일만 고쳤습니다. 나중에 회사 보안 때문에 사내 AI를 써야 해도 여기만 바꾸면 됩니다.
셋째, 'API 키가 잘못됐다', '크레딧이 부족하다' 같은 에러를 영어 원문 대신 한국어 안내로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AI가 아무리 똑똑해도 우리 팀만의 기준은 모릅니다. 그래서 '지식 베이스'라는 파일 세 개를 따로 뒀습니다.
첫째는 R과 Python 패키지 대응표로, 변환할 때 씁니다. 둘째는 표준 분석 단계 목록으로, 비교할 때 기준이 됩니다. 셋째는 parameter별 설명과 추천값으로, 가이드에 씁니다.
좋은 점은 이 파일들이 코드가 아니라 간단한 텍스트 파일이라는 겁니다. 예를 들어 우리 팀은 percent.mt 기준을 10으로 쓴다면 그 한 줄만 추가하면 됩니다. 프로그래밍을 몰라도 도구를 똑똑하게 만들 수 있게 설계했습니다.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화면은 Streamlit이라는 Python 웹 도구로 만들었습니다. 웹 개발을 따로 배우지 않아도 Python만으로 화면을 만들 수 있습니다.
디자인 원칙은 '처음 보는 사람도 설명 없이 쓸 수 있게'였습니다. 그래서 각 탭 위에 '무엇을 넣고, 무엇을 얻고, 언제 쓰는지'를 적어 두었습니다.
색은 기본 화면에서는 거의 쓰지 않고, 결과 화면에서만 연한 파스텔 색으로 '중요도 높음', '차이' 같은 핵심 정보를 구분했습니다.
그리고 AI 응답을 기다리는 동안 축구 선수가 공을 몰고 골대로 가는 로딩 애니메이션을 넣었습니다. 제가 축구를 좋아해서 넣은 작은 재미 요소입니다.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회사에서 쓰는 도구라서 안전장치도 신경 썼습니다.
API 키는 .env라는 파일에만 저장되고, 이 파일은 GitHub와 GitLab에 절대 올라가지 않도록 설정했습니다. 실제로 전체 업로드 기록을 검사해서 키가 없는 것도 확인했습니다.
자동 테스트도 22개 있습니다. AI를 실제로 부르면 돈이 드니까, 테스트할 때는 AI 대신 가짜 응답을 넣어서 나머지 부분이 잘 동작하는지 확인합니다.
키나 인터넷이 없을 때를 위한 오프라인 모드가 있고, 회사 코드를 외부 AI로 보내기 전에 사내 정책을 확인하라는 안내도 화면에 넣었습니다.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앞으로 개선하고 싶은 것들입니다.
가장 먼저 하고 싶은 건 변환 결과 자동 비교입니다. 지금은 변환된 코드가 실행되는지까지 확인하지만, 원본과 같은 결과가 나오는지, 예를 들어 클러스터 수가 같은지까지 자동으로 비교하고 싶습니다.
그리고 parameter 가이드에서 후보값을 고르면 수정된 코드를 바로 받을 수 있게 하고, bulk RNA-seq 예제와 Snakemake, Nextflow 지원도 늘리고 싶습니다.
마지막으로 다 같이 쓸 수 있게 사내 서버에 배포하는 것도 계획하고 있습니다. 써보시고 필요한 기능을 알려주시면 반영하겠습니다.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설계 설명은 여기까지입니다. 이제 실제 화면으로 보여드리겠습니다.
데모 순서는 결과가 가장 눈에 잘 들어오는 ② 비교부터 하겠습니다. Seurat 예제와 scanpy 예제를 비교해서 doublet 제거나 resolution 차이를 찾는 걸 보여드리고,
다음으로 ③ Parameter 가이드에서 코드에 색이 칠해지는 걸 보여드린 뒤, 마지막으로 ① 변환을 보여드리겠습니다.
AI 응답을 기다리는 동안 화면 위에 축구 애니메이션이 나오니 같이 봐 주세요. 코드는 사내 GitLab에 올려두었으니 누구나 받아서 써보실 수 있습니다. 감사합니다.
[데모 전 체크] 발표 5~10분 전에 streamlit run app.py 실행, ② 비교 한 번 미리 실행해 두기.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759452"/>
            <a:ext cx="4572000" cy="274320"/>
          </a:xfrm>
          <a:prstGeom prst="rect">
            <a:avLst/>
          </a:prstGeom>
          <a:noFill/>
          <a:ln/>
        </p:spPr>
        <p:txBody>
          <a:bodyPr wrap="square" lIns="0" tIns="0" rIns="0" bIns="0" rtlCol="0" anchor="ctr"/>
          <a:lstStyle/>
          <a:p>
            <a:pPr indent="0" marL="0">
              <a:buNone/>
            </a:pPr>
            <a:r>
              <a:rPr lang="en-US" sz="900" dirty="0">
                <a:solidFill>
                  <a:schemeClr val="accent6"/>
                </a:solidFill>
              </a:rPr>
              <a:t>BI Pipeline Assistant · 설계 설명</a:t>
            </a:r>
            <a:endParaRPr lang="en-US" sz="90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bg"/>
          <p:cNvSpPr/>
          <p:nvPr/>
        </p:nvSpPr>
        <p:spPr>
          <a:xfrm>
            <a:off x="457200" y="502920"/>
            <a:ext cx="960120" cy="822960"/>
          </a:xfrm>
          <a:prstGeom prst="roundRect">
            <a:avLst>
              <a:gd name="adj" fmla="val 15556"/>
            </a:avLst>
          </a:prstGeom>
          <a:solidFill>
            <a:schemeClr val="bg1"/>
          </a:solidFill>
          <a:ln w="12700">
            <a:solidFill>
              <a:schemeClr val="bg1"/>
            </a:solidFill>
            <a:prstDash val="solid"/>
          </a:ln>
        </p:spPr>
      </p:sp>
      <p:pic>
        <p:nvPicPr>
          <p:cNvPr id="3" name="logo" descr="/home/user/bi-pipeline-assistant/assets/bionexus_logo.png">    </p:cNvPr>
          <p:cNvPicPr>
            <a:picLocks noChangeAspect="1"/>
          </p:cNvPicPr>
          <p:nvPr/>
        </p:nvPicPr>
        <p:blipFill>
          <a:blip r:embed="rId1"/>
          <a:stretch>
            <a:fillRect/>
          </a:stretch>
        </p:blipFill>
        <p:spPr>
          <a:xfrm>
            <a:off x="548640" y="548640"/>
            <a:ext cx="777240" cy="646402"/>
          </a:xfrm>
          <a:prstGeom prst="rect">
            <a:avLst/>
          </a:prstGeom>
        </p:spPr>
      </p:pic>
      <p:sp>
        <p:nvSpPr>
          <p:cNvPr id="4" name="title"/>
          <p:cNvSpPr txBox="1"/>
          <p:nvPr/>
        </p:nvSpPr>
        <p:spPr>
          <a:xfrm>
            <a:off x="457200" y="1737360"/>
            <a:ext cx="8229600" cy="822960"/>
          </a:xfrm>
          <a:prstGeom prst="rect">
            <a:avLst/>
          </a:prstGeom>
          <a:noFill/>
          <a:ln/>
        </p:spPr>
        <p:txBody>
          <a:bodyPr wrap="square" lIns="0" tIns="0" rIns="0" bIns="0" rtlCol="0" anchor="t"/>
          <a:lstStyle/>
          <a:p>
            <a:pPr indent="0" marL="0">
              <a:buNone/>
            </a:pPr>
            <a:r>
              <a:rPr lang="en-US" sz="4000" b="1" dirty="0">
                <a:solidFill>
                  <a:schemeClr val="bg1"/>
                </a:solidFill>
              </a:rPr>
              <a:t>BI Pipeline Assistant</a:t>
            </a:r>
            <a:endParaRPr lang="en-US" sz="4000" dirty="0"/>
          </a:p>
        </p:txBody>
      </p:sp>
      <p:sp>
        <p:nvSpPr>
          <p:cNvPr id="5" name="subtitle"/>
          <p:cNvSpPr txBox="1"/>
          <p:nvPr/>
        </p:nvSpPr>
        <p:spPr>
          <a:xfrm>
            <a:off x="457200" y="2560320"/>
            <a:ext cx="8229600" cy="411480"/>
          </a:xfrm>
          <a:prstGeom prst="rect">
            <a:avLst/>
          </a:prstGeom>
          <a:noFill/>
          <a:ln/>
        </p:spPr>
        <p:txBody>
          <a:bodyPr wrap="square" lIns="0" tIns="0" rIns="0" bIns="0" rtlCol="0" anchor="t"/>
          <a:lstStyle/>
          <a:p>
            <a:pPr indent="0" marL="0">
              <a:buNone/>
            </a:pPr>
            <a:r>
              <a:rPr lang="en-US" sz="1800" dirty="0">
                <a:solidFill>
                  <a:schemeClr val="bg2"/>
                </a:solidFill>
              </a:rPr>
              <a:t>어떻게 설계했나 — 구조와 설계 결정을 쉽게 풀어보기</a:t>
            </a:r>
            <a:endParaRPr lang="en-US" sz="1800" dirty="0"/>
          </a:p>
        </p:txBody>
      </p:sp>
      <p:sp>
        <p:nvSpPr>
          <p:cNvPr id="6" name="features"/>
          <p:cNvSpPr txBox="1"/>
          <p:nvPr/>
        </p:nvSpPr>
        <p:spPr>
          <a:xfrm>
            <a:off x="457200" y="3200400"/>
            <a:ext cx="8229600" cy="365760"/>
          </a:xfrm>
          <a:prstGeom prst="rect">
            <a:avLst/>
          </a:prstGeom>
          <a:noFill/>
          <a:ln/>
        </p:spPr>
        <p:txBody>
          <a:bodyPr wrap="square" lIns="0" tIns="0" rIns="0" bIns="0" rtlCol="0" anchor="t"/>
          <a:lstStyle/>
          <a:p>
            <a:pPr indent="0" marL="0">
              <a:buNone/>
            </a:pPr>
            <a:r>
              <a:rPr lang="en-US" sz="1400" dirty="0">
                <a:solidFill>
                  <a:srgbClr val="A9C4EE"/>
                </a:solidFill>
              </a:rPr>
              <a:t>① R ↔ Python 변환</a:t>
            </a:r>
            <a:pPr indent="0" marL="0">
              <a:buNone/>
            </a:pPr>
            <a:r>
              <a:rPr lang="en-US" sz="1400" dirty="0">
                <a:solidFill>
                  <a:srgbClr val="6B7280"/>
                </a:solidFill>
              </a:rPr>
              <a:t>   ·   </a:t>
            </a:r>
            <a:pPr indent="0" marL="0">
              <a:buNone/>
            </a:pPr>
            <a:r>
              <a:rPr lang="en-US" sz="1400" dirty="0">
                <a:solidFill>
                  <a:srgbClr val="C5B6EC"/>
                </a:solidFill>
              </a:rPr>
              <a:t>② 파이프라인 비교</a:t>
            </a:r>
            <a:pPr indent="0" marL="0">
              <a:buNone/>
            </a:pPr>
            <a:r>
              <a:rPr lang="en-US" sz="1400" dirty="0">
                <a:solidFill>
                  <a:srgbClr val="6B7280"/>
                </a:solidFill>
              </a:rPr>
              <a:t>   ·   </a:t>
            </a:r>
            <a:pPr indent="0" marL="0">
              <a:buNone/>
            </a:pPr>
            <a:r>
              <a:rPr lang="en-US" sz="1400" dirty="0">
                <a:solidFill>
                  <a:srgbClr val="A6D9BF"/>
                </a:solidFill>
              </a:rPr>
              <a:t>③ Parameter 가이드</a:t>
            </a:r>
            <a:endParaRPr lang="en-US" sz="1400" dirty="0"/>
          </a:p>
        </p:txBody>
      </p:sp>
      <p:sp>
        <p:nvSpPr>
          <p:cNvPr id="7" name="footer"/>
          <p:cNvSpPr txBox="1"/>
          <p:nvPr/>
        </p:nvSpPr>
        <p:spPr>
          <a:xfrm>
            <a:off x="457200" y="4457700"/>
            <a:ext cx="5486400" cy="274320"/>
          </a:xfrm>
          <a:prstGeom prst="rect">
            <a:avLst/>
          </a:prstGeom>
          <a:noFill/>
          <a:ln/>
        </p:spPr>
        <p:txBody>
          <a:bodyPr wrap="square" lIns="0" tIns="0" rIns="0" bIns="0" rtlCol="0" anchor="t"/>
          <a:lstStyle/>
          <a:p>
            <a:pPr indent="0" marL="0">
              <a:buNone/>
            </a:pPr>
            <a:r>
              <a:rPr lang="en-US" sz="1100" dirty="0">
                <a:solidFill>
                  <a:schemeClr val="accent6"/>
                </a:solidFill>
              </a:rPr>
              <a:t>BioNexus · 업무 자동화 발표</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풀고 싶었던 3가지 반복 작업</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분석할 때마다 손으로 하던 일을 도구로 바꾸는 것이 목표였습니다</a:t>
            </a:r>
            <a:endParaRPr lang="en-US" sz="1250" dirty="0"/>
          </a:p>
        </p:txBody>
      </p:sp>
      <p:sp>
        <p:nvSpPr>
          <p:cNvPr id="4" name="problem card 1"/>
          <p:cNvSpPr/>
          <p:nvPr/>
        </p:nvSpPr>
        <p:spPr>
          <a:xfrm>
            <a:off x="457200" y="1417320"/>
            <a:ext cx="2606040" cy="2926080"/>
          </a:xfrm>
          <a:prstGeom prst="roundRect">
            <a:avLst>
              <a:gd name="adj" fmla="val 4211"/>
            </a:avLst>
          </a:prstGeom>
          <a:solidFill>
            <a:schemeClr val="accent1">
              <a:alpha val="10000"/>
            </a:schemeClr>
          </a:solidFill>
          <a:ln w="12700">
            <a:solidFill>
              <a:schemeClr val="accent1">
                <a:alpha val="25000"/>
              </a:schemeClr>
            </a:solidFill>
            <a:prstDash val="solid"/>
          </a:ln>
        </p:spPr>
      </p:sp>
      <p:pic>
        <p:nvPicPr>
          <p:cNvPr id="5" name="problem icon 1" descr="preencoded.png">    </p:cNvPr>
          <p:cNvPicPr>
            <a:picLocks noChangeAspect="1"/>
          </p:cNvPicPr>
          <p:nvPr/>
        </p:nvPicPr>
        <p:blipFill>
          <a:blip r:embed="rId1"/>
          <a:stretch>
            <a:fillRect/>
          </a:stretch>
        </p:blipFill>
        <p:spPr>
          <a:xfrm>
            <a:off x="731520" y="1691640"/>
            <a:ext cx="457200" cy="457200"/>
          </a:xfrm>
          <a:prstGeom prst="rect">
            <a:avLst/>
          </a:prstGeom>
        </p:spPr>
      </p:pic>
      <p:sp>
        <p:nvSpPr>
          <p:cNvPr id="6" name="problem title 1"/>
          <p:cNvSpPr txBox="1"/>
          <p:nvPr/>
        </p:nvSpPr>
        <p:spPr>
          <a:xfrm>
            <a:off x="731520" y="2286000"/>
            <a:ext cx="2057400" cy="365760"/>
          </a:xfrm>
          <a:prstGeom prst="rect">
            <a:avLst/>
          </a:prstGeom>
          <a:noFill/>
          <a:ln/>
        </p:spPr>
        <p:txBody>
          <a:bodyPr wrap="square" lIns="0" tIns="0" rIns="0" bIns="0" rtlCol="0" anchor="t"/>
          <a:lstStyle/>
          <a:p>
            <a:pPr indent="0" marL="0">
              <a:buNone/>
            </a:pPr>
            <a:r>
              <a:rPr lang="en-US" sz="1500" b="1" dirty="0">
                <a:solidFill>
                  <a:schemeClr val="tx1"/>
                </a:solidFill>
              </a:rPr>
              <a:t>R ↔ Python 옮기기</a:t>
            </a:r>
            <a:endParaRPr lang="en-US" sz="1500" dirty="0"/>
          </a:p>
        </p:txBody>
      </p:sp>
      <p:sp>
        <p:nvSpPr>
          <p:cNvPr id="7" name="problem text 1"/>
          <p:cNvSpPr txBox="1"/>
          <p:nvPr/>
        </p:nvSpPr>
        <p:spPr>
          <a:xfrm>
            <a:off x="731520" y="2697480"/>
            <a:ext cx="2057400" cy="1097280"/>
          </a:xfrm>
          <a:prstGeom prst="rect">
            <a:avLst/>
          </a:prstGeom>
          <a:noFill/>
          <a:ln/>
        </p:spPr>
        <p:txBody>
          <a:bodyPr wrap="square" lIns="0" tIns="0" rIns="0" bIns="0" rtlCol="0" anchor="t"/>
          <a:lstStyle/>
          <a:p>
            <a:pPr indent="0" marL="0">
              <a:lnSpc>
                <a:spcPct val="120000"/>
              </a:lnSpc>
              <a:buNone/>
            </a:pPr>
            <a:r>
              <a:rPr lang="en-US" sz="1150" dirty="0">
                <a:solidFill>
                  <a:schemeClr val="tx2"/>
                </a:solidFill>
              </a:rPr>
              <a:t>논문 코드는 R(Seurat)인데 우리 팀은 Python(scanpy)… 매번 함수 대응을 찾아가며 손으로 옮겨야 했습니다.</a:t>
            </a:r>
            <a:endParaRPr lang="en-US" sz="1150" dirty="0"/>
          </a:p>
        </p:txBody>
      </p:sp>
      <p:sp>
        <p:nvSpPr>
          <p:cNvPr id="8" name="problem tag 1"/>
          <p:cNvSpPr/>
          <p:nvPr/>
        </p:nvSpPr>
        <p:spPr>
          <a:xfrm>
            <a:off x="731520" y="3886200"/>
            <a:ext cx="914400" cy="256032"/>
          </a:xfrm>
          <a:prstGeom prst="roundRect">
            <a:avLst>
              <a:gd name="adj" fmla="val 50000"/>
            </a:avLst>
          </a:prstGeom>
          <a:solidFill>
            <a:schemeClr val="accent1">
              <a:alpha val="15000"/>
            </a:schemeClr>
          </a:solidFill>
          <a:ln w="9525">
            <a:solidFill>
              <a:schemeClr val="accent1">
                <a:alpha val="30000"/>
              </a:schemeClr>
            </a:solidFill>
            <a:prstDash val="solid"/>
          </a:ln>
        </p:spPr>
      </p:sp>
      <p:sp>
        <p:nvSpPr>
          <p:cNvPr id="9" name="Text 6"/>
          <p:cNvSpPr txBox="1"/>
          <p:nvPr/>
        </p:nvSpPr>
        <p:spPr>
          <a:xfrm>
            <a:off x="731520" y="3886200"/>
            <a:ext cx="914400" cy="256032"/>
          </a:xfrm>
          <a:prstGeom prst="rect">
            <a:avLst/>
          </a:prstGeom>
          <a:noFill/>
          <a:ln/>
        </p:spPr>
        <p:txBody>
          <a:bodyPr wrap="square" lIns="0" tIns="0" rIns="0" bIns="0" rtlCol="0" anchor="ctr"/>
          <a:lstStyle/>
          <a:p>
            <a:pPr algn="ctr" indent="0" marL="0">
              <a:buNone/>
            </a:pPr>
            <a:r>
              <a:rPr lang="en-US" sz="1000" b="1" dirty="0">
                <a:solidFill>
                  <a:schemeClr val="accent1"/>
                </a:solidFill>
              </a:rPr>
              <a:t>→ ① 변환</a:t>
            </a:r>
            <a:endParaRPr lang="en-US" sz="1000" dirty="0"/>
          </a:p>
        </p:txBody>
      </p:sp>
      <p:sp>
        <p:nvSpPr>
          <p:cNvPr id="10" name="problem card 2"/>
          <p:cNvSpPr/>
          <p:nvPr/>
        </p:nvSpPr>
        <p:spPr>
          <a:xfrm>
            <a:off x="3246120" y="1417320"/>
            <a:ext cx="2606040" cy="2926080"/>
          </a:xfrm>
          <a:prstGeom prst="roundRect">
            <a:avLst>
              <a:gd name="adj" fmla="val 4211"/>
            </a:avLst>
          </a:prstGeom>
          <a:solidFill>
            <a:schemeClr val="accent2">
              <a:alpha val="10000"/>
            </a:schemeClr>
          </a:solidFill>
          <a:ln w="12700">
            <a:solidFill>
              <a:schemeClr val="accent2">
                <a:alpha val="25000"/>
              </a:schemeClr>
            </a:solidFill>
            <a:prstDash val="solid"/>
          </a:ln>
        </p:spPr>
      </p:sp>
      <p:pic>
        <p:nvPicPr>
          <p:cNvPr id="11" name="problem icon 2" descr="preencoded.png">    </p:cNvPr>
          <p:cNvPicPr>
            <a:picLocks noChangeAspect="1"/>
          </p:cNvPicPr>
          <p:nvPr/>
        </p:nvPicPr>
        <p:blipFill>
          <a:blip r:embed="rId2"/>
          <a:stretch>
            <a:fillRect/>
          </a:stretch>
        </p:blipFill>
        <p:spPr>
          <a:xfrm>
            <a:off x="3520440" y="1691640"/>
            <a:ext cx="457200" cy="457200"/>
          </a:xfrm>
          <a:prstGeom prst="rect">
            <a:avLst/>
          </a:prstGeom>
        </p:spPr>
      </p:pic>
      <p:sp>
        <p:nvSpPr>
          <p:cNvPr id="12" name="problem title 2"/>
          <p:cNvSpPr txBox="1"/>
          <p:nvPr/>
        </p:nvSpPr>
        <p:spPr>
          <a:xfrm>
            <a:off x="3520440" y="2286000"/>
            <a:ext cx="2057400" cy="365760"/>
          </a:xfrm>
          <a:prstGeom prst="rect">
            <a:avLst/>
          </a:prstGeom>
          <a:noFill/>
          <a:ln/>
        </p:spPr>
        <p:txBody>
          <a:bodyPr wrap="square" lIns="0" tIns="0" rIns="0" bIns="0" rtlCol="0" anchor="t"/>
          <a:lstStyle/>
          <a:p>
            <a:pPr indent="0" marL="0">
              <a:buNone/>
            </a:pPr>
            <a:r>
              <a:rPr lang="en-US" sz="1500" b="1" dirty="0">
                <a:solidFill>
                  <a:schemeClr val="tx1"/>
                </a:solidFill>
              </a:rPr>
              <a:t>남의 파이프라인과 비교</a:t>
            </a:r>
            <a:endParaRPr lang="en-US" sz="1500" dirty="0"/>
          </a:p>
        </p:txBody>
      </p:sp>
      <p:sp>
        <p:nvSpPr>
          <p:cNvPr id="13" name="problem text 2"/>
          <p:cNvSpPr txBox="1"/>
          <p:nvPr/>
        </p:nvSpPr>
        <p:spPr>
          <a:xfrm>
            <a:off x="3520440" y="2697480"/>
            <a:ext cx="2057400" cy="1097280"/>
          </a:xfrm>
          <a:prstGeom prst="rect">
            <a:avLst/>
          </a:prstGeom>
          <a:noFill/>
          <a:ln/>
        </p:spPr>
        <p:txBody>
          <a:bodyPr wrap="square" lIns="0" tIns="0" rIns="0" bIns="0" rtlCol="0" anchor="t"/>
          <a:lstStyle/>
          <a:p>
            <a:pPr indent="0" marL="0">
              <a:lnSpc>
                <a:spcPct val="120000"/>
              </a:lnSpc>
              <a:buNone/>
            </a:pPr>
            <a:r>
              <a:rPr lang="en-US" sz="1150" dirty="0">
                <a:solidFill>
                  <a:schemeClr val="tx2"/>
                </a:solidFill>
              </a:rPr>
              <a:t>튜토리얼·논문 파이프라인과 내 코드를 한 줄씩 비교하며 빠진 단계를 찾는 데 시간이 오래 걸렸습니다.</a:t>
            </a:r>
            <a:endParaRPr lang="en-US" sz="1150" dirty="0"/>
          </a:p>
        </p:txBody>
      </p:sp>
      <p:sp>
        <p:nvSpPr>
          <p:cNvPr id="14" name="problem tag 2"/>
          <p:cNvSpPr/>
          <p:nvPr/>
        </p:nvSpPr>
        <p:spPr>
          <a:xfrm>
            <a:off x="3520440" y="3886200"/>
            <a:ext cx="914400" cy="256032"/>
          </a:xfrm>
          <a:prstGeom prst="roundRect">
            <a:avLst>
              <a:gd name="adj" fmla="val 50000"/>
            </a:avLst>
          </a:prstGeom>
          <a:solidFill>
            <a:schemeClr val="accent2">
              <a:alpha val="15000"/>
            </a:schemeClr>
          </a:solidFill>
          <a:ln w="9525">
            <a:solidFill>
              <a:schemeClr val="accent2">
                <a:alpha val="30000"/>
              </a:schemeClr>
            </a:solidFill>
            <a:prstDash val="solid"/>
          </a:ln>
        </p:spPr>
      </p:sp>
      <p:sp>
        <p:nvSpPr>
          <p:cNvPr id="15" name="Text 11"/>
          <p:cNvSpPr txBox="1"/>
          <p:nvPr/>
        </p:nvSpPr>
        <p:spPr>
          <a:xfrm>
            <a:off x="3520440" y="3886200"/>
            <a:ext cx="914400" cy="256032"/>
          </a:xfrm>
          <a:prstGeom prst="rect">
            <a:avLst/>
          </a:prstGeom>
          <a:noFill/>
          <a:ln/>
        </p:spPr>
        <p:txBody>
          <a:bodyPr wrap="square" lIns="0" tIns="0" rIns="0" bIns="0" rtlCol="0" anchor="ctr"/>
          <a:lstStyle/>
          <a:p>
            <a:pPr algn="ctr" indent="0" marL="0">
              <a:buNone/>
            </a:pPr>
            <a:r>
              <a:rPr lang="en-US" sz="1000" b="1" dirty="0">
                <a:solidFill>
                  <a:schemeClr val="accent2"/>
                </a:solidFill>
              </a:rPr>
              <a:t>→ ② 비교</a:t>
            </a:r>
            <a:endParaRPr lang="en-US" sz="1000" dirty="0"/>
          </a:p>
        </p:txBody>
      </p:sp>
      <p:sp>
        <p:nvSpPr>
          <p:cNvPr id="16" name="problem card 3"/>
          <p:cNvSpPr/>
          <p:nvPr/>
        </p:nvSpPr>
        <p:spPr>
          <a:xfrm>
            <a:off x="6035040" y="1417320"/>
            <a:ext cx="2606040" cy="2926080"/>
          </a:xfrm>
          <a:prstGeom prst="roundRect">
            <a:avLst>
              <a:gd name="adj" fmla="val 4211"/>
            </a:avLst>
          </a:prstGeom>
          <a:solidFill>
            <a:schemeClr val="accent3">
              <a:alpha val="10000"/>
            </a:schemeClr>
          </a:solidFill>
          <a:ln w="12700">
            <a:solidFill>
              <a:schemeClr val="accent3">
                <a:alpha val="25000"/>
              </a:schemeClr>
            </a:solidFill>
            <a:prstDash val="solid"/>
          </a:ln>
        </p:spPr>
      </p:sp>
      <p:pic>
        <p:nvPicPr>
          <p:cNvPr id="17" name="problem icon 3" descr="preencoded.png">    </p:cNvPr>
          <p:cNvPicPr>
            <a:picLocks noChangeAspect="1"/>
          </p:cNvPicPr>
          <p:nvPr/>
        </p:nvPicPr>
        <p:blipFill>
          <a:blip r:embed="rId3"/>
          <a:stretch>
            <a:fillRect/>
          </a:stretch>
        </p:blipFill>
        <p:spPr>
          <a:xfrm>
            <a:off x="6309360" y="1691640"/>
            <a:ext cx="457200" cy="457200"/>
          </a:xfrm>
          <a:prstGeom prst="rect">
            <a:avLst/>
          </a:prstGeom>
        </p:spPr>
      </p:pic>
      <p:sp>
        <p:nvSpPr>
          <p:cNvPr id="18" name="problem title 3"/>
          <p:cNvSpPr txBox="1"/>
          <p:nvPr/>
        </p:nvSpPr>
        <p:spPr>
          <a:xfrm>
            <a:off x="6309360" y="2286000"/>
            <a:ext cx="2057400" cy="365760"/>
          </a:xfrm>
          <a:prstGeom prst="rect">
            <a:avLst/>
          </a:prstGeom>
          <a:noFill/>
          <a:ln/>
        </p:spPr>
        <p:txBody>
          <a:bodyPr wrap="square" lIns="0" tIns="0" rIns="0" bIns="0" rtlCol="0" anchor="t"/>
          <a:lstStyle/>
          <a:p>
            <a:pPr indent="0" marL="0">
              <a:buNone/>
            </a:pPr>
            <a:r>
              <a:rPr lang="en-US" sz="1500" b="1" dirty="0">
                <a:solidFill>
                  <a:schemeClr val="tx1"/>
                </a:solidFill>
              </a:rPr>
              <a:t>바꿀 parameter 찾기</a:t>
            </a:r>
            <a:endParaRPr lang="en-US" sz="1500" dirty="0"/>
          </a:p>
        </p:txBody>
      </p:sp>
      <p:sp>
        <p:nvSpPr>
          <p:cNvPr id="19" name="problem text 3"/>
          <p:cNvSpPr txBox="1"/>
          <p:nvPr/>
        </p:nvSpPr>
        <p:spPr>
          <a:xfrm>
            <a:off x="6309360" y="2697480"/>
            <a:ext cx="2057400" cy="1097280"/>
          </a:xfrm>
          <a:prstGeom prst="rect">
            <a:avLst/>
          </a:prstGeom>
          <a:noFill/>
          <a:ln/>
        </p:spPr>
        <p:txBody>
          <a:bodyPr wrap="square" lIns="0" tIns="0" rIns="0" bIns="0" rtlCol="0" anchor="t"/>
          <a:lstStyle/>
          <a:p>
            <a:pPr indent="0" marL="0">
              <a:lnSpc>
                <a:spcPct val="120000"/>
              </a:lnSpc>
              <a:buNone/>
            </a:pPr>
            <a:r>
              <a:rPr lang="en-US" sz="1150" dirty="0">
                <a:solidFill>
                  <a:schemeClr val="tx2"/>
                </a:solidFill>
              </a:rPr>
              <a:t>비전공자는 resolution, percent.mt 같은 값이 어디 있고 얼마로 바꿔야 하는지 알기 어렵습니다.</a:t>
            </a:r>
            <a:endParaRPr lang="en-US" sz="1150" dirty="0"/>
          </a:p>
        </p:txBody>
      </p:sp>
      <p:sp>
        <p:nvSpPr>
          <p:cNvPr id="20" name="problem tag 3"/>
          <p:cNvSpPr/>
          <p:nvPr/>
        </p:nvSpPr>
        <p:spPr>
          <a:xfrm>
            <a:off x="6309360" y="3886200"/>
            <a:ext cx="914400" cy="256032"/>
          </a:xfrm>
          <a:prstGeom prst="roundRect">
            <a:avLst>
              <a:gd name="adj" fmla="val 50000"/>
            </a:avLst>
          </a:prstGeom>
          <a:solidFill>
            <a:schemeClr val="accent3">
              <a:alpha val="15000"/>
            </a:schemeClr>
          </a:solidFill>
          <a:ln w="9525">
            <a:solidFill>
              <a:schemeClr val="accent3">
                <a:alpha val="30000"/>
              </a:schemeClr>
            </a:solidFill>
            <a:prstDash val="solid"/>
          </a:ln>
        </p:spPr>
      </p:sp>
      <p:sp>
        <p:nvSpPr>
          <p:cNvPr id="21" name="Text 16"/>
          <p:cNvSpPr txBox="1"/>
          <p:nvPr/>
        </p:nvSpPr>
        <p:spPr>
          <a:xfrm>
            <a:off x="6309360" y="3886200"/>
            <a:ext cx="914400" cy="256032"/>
          </a:xfrm>
          <a:prstGeom prst="rect">
            <a:avLst/>
          </a:prstGeom>
          <a:noFill/>
          <a:ln/>
        </p:spPr>
        <p:txBody>
          <a:bodyPr wrap="square" lIns="0" tIns="0" rIns="0" bIns="0" rtlCol="0" anchor="ctr"/>
          <a:lstStyle/>
          <a:p>
            <a:pPr algn="ctr" indent="0" marL="0">
              <a:buNone/>
            </a:pPr>
            <a:r>
              <a:rPr lang="en-US" sz="1000" b="1" dirty="0">
                <a:solidFill>
                  <a:schemeClr val="accent3"/>
                </a:solidFill>
              </a:rPr>
              <a:t>→ ③ 가이드</a:t>
            </a:r>
            <a:endParaRPr lang="en-US" sz="100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첫 번째 설계 결정: 하나로? 셋으로?</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세 기능을 어떻게 묶을지가 가장 먼저 정한 것입니다</a:t>
            </a:r>
            <a:endParaRPr lang="en-US" sz="1250" dirty="0"/>
          </a:p>
        </p:txBody>
      </p:sp>
      <p:sp>
        <p:nvSpPr>
          <p:cNvPr id="4" name="option card 1"/>
          <p:cNvSpPr/>
          <p:nvPr/>
        </p:nvSpPr>
        <p:spPr>
          <a:xfrm>
            <a:off x="457200" y="1417320"/>
            <a:ext cx="2606040" cy="2971800"/>
          </a:xfrm>
          <a:prstGeom prst="roundRect">
            <a:avLst>
              <a:gd name="adj" fmla="val 4211"/>
            </a:avLst>
          </a:prstGeom>
          <a:solidFill>
            <a:schemeClr val="accent6">
              <a:alpha val="5000"/>
            </a:schemeClr>
          </a:solidFill>
          <a:ln w="12700">
            <a:solidFill>
              <a:schemeClr val="accent6">
                <a:alpha val="20000"/>
              </a:schemeClr>
            </a:solidFill>
            <a:prstDash val="solid"/>
          </a:ln>
        </p:spPr>
      </p:sp>
      <p:sp>
        <p:nvSpPr>
          <p:cNvPr id="5" name="option label 1"/>
          <p:cNvSpPr txBox="1"/>
          <p:nvPr/>
        </p:nvSpPr>
        <p:spPr>
          <a:xfrm>
            <a:off x="731520" y="1691640"/>
            <a:ext cx="2057400" cy="274320"/>
          </a:xfrm>
          <a:prstGeom prst="rect">
            <a:avLst/>
          </a:prstGeom>
          <a:noFill/>
          <a:ln/>
        </p:spPr>
        <p:txBody>
          <a:bodyPr wrap="square" lIns="0" tIns="0" rIns="0" bIns="0" rtlCol="0" anchor="t"/>
          <a:lstStyle/>
          <a:p>
            <a:pPr indent="0" marL="0">
              <a:buNone/>
            </a:pPr>
            <a:r>
              <a:rPr lang="en-US" sz="1100" b="1" dirty="0">
                <a:solidFill>
                  <a:schemeClr val="accent6"/>
                </a:solidFill>
              </a:rPr>
              <a:t>도구 3개</a:t>
            </a:r>
            <a:endParaRPr lang="en-US" sz="1100" dirty="0"/>
          </a:p>
        </p:txBody>
      </p:sp>
      <p:sp>
        <p:nvSpPr>
          <p:cNvPr id="6" name="option title 1"/>
          <p:cNvSpPr txBox="1"/>
          <p:nvPr/>
        </p:nvSpPr>
        <p:spPr>
          <a:xfrm>
            <a:off x="731520" y="1984248"/>
            <a:ext cx="2057400" cy="411480"/>
          </a:xfrm>
          <a:prstGeom prst="rect">
            <a:avLst/>
          </a:prstGeom>
          <a:noFill/>
          <a:ln/>
        </p:spPr>
        <p:txBody>
          <a:bodyPr wrap="square" lIns="0" tIns="0" rIns="0" bIns="0" rtlCol="0" anchor="t"/>
          <a:lstStyle/>
          <a:p>
            <a:pPr indent="0" marL="0">
              <a:buNone/>
            </a:pPr>
            <a:r>
              <a:rPr lang="en-US" sz="1500" b="1" dirty="0">
                <a:solidFill>
                  <a:schemeClr val="tx1"/>
                </a:solidFill>
              </a:rPr>
              <a:t>A. 기능마다 따로 만들기</a:t>
            </a:r>
            <a:endParaRPr lang="en-US" sz="1500" dirty="0"/>
          </a:p>
        </p:txBody>
      </p:sp>
      <p:sp>
        <p:nvSpPr>
          <p:cNvPr id="7" name="option points 1"/>
          <p:cNvSpPr txBox="1"/>
          <p:nvPr/>
        </p:nvSpPr>
        <p:spPr>
          <a:xfrm>
            <a:off x="731520" y="2651760"/>
            <a:ext cx="2057400" cy="11887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2"/>
                </a:solidFill>
              </a:rPr>
              <a:t>코드를 읽는 부분을 3번 중복 개발</a:t>
            </a:r>
            <a:endParaRPr lang="en-US" sz="1150" dirty="0"/>
          </a:p>
          <a:p>
            <a:pPr marL="342900" indent="-342900">
              <a:spcAft>
                <a:spcPts val="600"/>
              </a:spcAft>
              <a:buSzPct val="100000"/>
              <a:buChar char="•"/>
            </a:pPr>
            <a:r>
              <a:rPr lang="en-US" sz="1150" dirty="0">
                <a:solidFill>
                  <a:schemeClr val="tx2"/>
                </a:solidFill>
              </a:rPr>
              <a:t>일주일 안에 만들기엔 비효율</a:t>
            </a:r>
            <a:endParaRPr lang="en-US" sz="1150" dirty="0"/>
          </a:p>
        </p:txBody>
      </p:sp>
      <p:sp>
        <p:nvSpPr>
          <p:cNvPr id="8" name="option card 2"/>
          <p:cNvSpPr/>
          <p:nvPr/>
        </p:nvSpPr>
        <p:spPr>
          <a:xfrm>
            <a:off x="3246120" y="1417320"/>
            <a:ext cx="2606040" cy="2971800"/>
          </a:xfrm>
          <a:prstGeom prst="roundRect">
            <a:avLst>
              <a:gd name="adj" fmla="val 4211"/>
            </a:avLst>
          </a:prstGeom>
          <a:solidFill>
            <a:schemeClr val="accent6">
              <a:alpha val="5000"/>
            </a:schemeClr>
          </a:solidFill>
          <a:ln w="12700">
            <a:solidFill>
              <a:schemeClr val="accent6">
                <a:alpha val="20000"/>
              </a:schemeClr>
            </a:solidFill>
            <a:prstDash val="solid"/>
          </a:ln>
        </p:spPr>
      </p:sp>
      <p:sp>
        <p:nvSpPr>
          <p:cNvPr id="9" name="option label 2"/>
          <p:cNvSpPr txBox="1"/>
          <p:nvPr/>
        </p:nvSpPr>
        <p:spPr>
          <a:xfrm>
            <a:off x="3520440" y="1691640"/>
            <a:ext cx="2057400" cy="274320"/>
          </a:xfrm>
          <a:prstGeom prst="rect">
            <a:avLst/>
          </a:prstGeom>
          <a:noFill/>
          <a:ln/>
        </p:spPr>
        <p:txBody>
          <a:bodyPr wrap="square" lIns="0" tIns="0" rIns="0" bIns="0" rtlCol="0" anchor="t"/>
          <a:lstStyle/>
          <a:p>
            <a:pPr indent="0" marL="0">
              <a:buNone/>
            </a:pPr>
            <a:r>
              <a:rPr lang="en-US" sz="1100" b="1" dirty="0">
                <a:solidFill>
                  <a:schemeClr val="accent6"/>
                </a:solidFill>
              </a:rPr>
              <a:t>에이전트 1개</a:t>
            </a:r>
            <a:endParaRPr lang="en-US" sz="1100" dirty="0"/>
          </a:p>
        </p:txBody>
      </p:sp>
      <p:sp>
        <p:nvSpPr>
          <p:cNvPr id="10" name="option title 2"/>
          <p:cNvSpPr txBox="1"/>
          <p:nvPr/>
        </p:nvSpPr>
        <p:spPr>
          <a:xfrm>
            <a:off x="3520440" y="1984248"/>
            <a:ext cx="2057400" cy="411480"/>
          </a:xfrm>
          <a:prstGeom prst="rect">
            <a:avLst/>
          </a:prstGeom>
          <a:noFill/>
          <a:ln/>
        </p:spPr>
        <p:txBody>
          <a:bodyPr wrap="square" lIns="0" tIns="0" rIns="0" bIns="0" rtlCol="0" anchor="t"/>
          <a:lstStyle/>
          <a:p>
            <a:pPr indent="0" marL="0">
              <a:buNone/>
            </a:pPr>
            <a:r>
              <a:rPr lang="en-US" sz="1500" b="1" dirty="0">
                <a:solidFill>
                  <a:schemeClr val="tx1"/>
                </a:solidFill>
              </a:rPr>
              <a:t>B. AI 하나가 알아서 고르기</a:t>
            </a:r>
            <a:endParaRPr lang="en-US" sz="1500" dirty="0"/>
          </a:p>
        </p:txBody>
      </p:sp>
      <p:sp>
        <p:nvSpPr>
          <p:cNvPr id="11" name="option points 2"/>
          <p:cNvSpPr txBox="1"/>
          <p:nvPr/>
        </p:nvSpPr>
        <p:spPr>
          <a:xfrm>
            <a:off x="3520440" y="2651760"/>
            <a:ext cx="2057400" cy="11887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2"/>
                </a:solidFill>
              </a:rPr>
              <a:t>사용자가 말하면 AI가 기능을 선택</a:t>
            </a:r>
            <a:endParaRPr lang="en-US" sz="1150" dirty="0"/>
          </a:p>
          <a:p>
            <a:pPr marL="342900" indent="-342900">
              <a:spcAft>
                <a:spcPts val="600"/>
              </a:spcAft>
              <a:buSzPct val="100000"/>
              <a:buChar char="•"/>
            </a:pPr>
            <a:r>
              <a:rPr lang="en-US" sz="1150" dirty="0">
                <a:solidFill>
                  <a:schemeClr val="tx2"/>
                </a:solidFill>
              </a:rPr>
              <a:t>데모 중 엉뚱한 기능으로 빠질 위험</a:t>
            </a:r>
            <a:endParaRPr lang="en-US" sz="1150" dirty="0"/>
          </a:p>
        </p:txBody>
      </p:sp>
      <p:sp>
        <p:nvSpPr>
          <p:cNvPr id="12" name="option card 3"/>
          <p:cNvSpPr/>
          <p:nvPr/>
        </p:nvSpPr>
        <p:spPr>
          <a:xfrm>
            <a:off x="6035040" y="1417320"/>
            <a:ext cx="2606040" cy="2971800"/>
          </a:xfrm>
          <a:prstGeom prst="roundRect">
            <a:avLst>
              <a:gd name="adj" fmla="val 4211"/>
            </a:avLst>
          </a:prstGeom>
          <a:solidFill>
            <a:schemeClr val="accent3">
              <a:alpha val="14000"/>
            </a:schemeClr>
          </a:solidFill>
          <a:ln w="12700">
            <a:solidFill>
              <a:schemeClr val="accent3">
                <a:alpha val="60000"/>
              </a:schemeClr>
            </a:solidFill>
            <a:prstDash val="solid"/>
          </a:ln>
        </p:spPr>
      </p:sp>
      <p:sp>
        <p:nvSpPr>
          <p:cNvPr id="13" name="option label 3"/>
          <p:cNvSpPr txBox="1"/>
          <p:nvPr/>
        </p:nvSpPr>
        <p:spPr>
          <a:xfrm>
            <a:off x="6309360" y="1691640"/>
            <a:ext cx="2057400" cy="274320"/>
          </a:xfrm>
          <a:prstGeom prst="rect">
            <a:avLst/>
          </a:prstGeom>
          <a:noFill/>
          <a:ln/>
        </p:spPr>
        <p:txBody>
          <a:bodyPr wrap="square" lIns="0" tIns="0" rIns="0" bIns="0" rtlCol="0" anchor="t"/>
          <a:lstStyle/>
          <a:p>
            <a:pPr indent="0" marL="0">
              <a:buNone/>
            </a:pPr>
            <a:r>
              <a:rPr lang="en-US" sz="1100" b="1" dirty="0">
                <a:solidFill>
                  <a:schemeClr val="accent3"/>
                </a:solidFill>
              </a:rPr>
              <a:t>웹앱 1개</a:t>
            </a:r>
            <a:endParaRPr lang="en-US" sz="1100" dirty="0"/>
          </a:p>
        </p:txBody>
      </p:sp>
      <p:sp>
        <p:nvSpPr>
          <p:cNvPr id="14" name="option title 3"/>
          <p:cNvSpPr txBox="1"/>
          <p:nvPr/>
        </p:nvSpPr>
        <p:spPr>
          <a:xfrm>
            <a:off x="6309360" y="1984248"/>
            <a:ext cx="2057400" cy="411480"/>
          </a:xfrm>
          <a:prstGeom prst="rect">
            <a:avLst/>
          </a:prstGeom>
          <a:noFill/>
          <a:ln/>
        </p:spPr>
        <p:txBody>
          <a:bodyPr wrap="square" lIns="0" tIns="0" rIns="0" bIns="0" rtlCol="0" anchor="t"/>
          <a:lstStyle/>
          <a:p>
            <a:pPr indent="0" marL="0">
              <a:buNone/>
            </a:pPr>
            <a:r>
              <a:rPr lang="en-US" sz="1500" b="1" dirty="0">
                <a:solidFill>
                  <a:schemeClr val="tx1"/>
                </a:solidFill>
              </a:rPr>
              <a:t>C. 공통 코어 + 탭 3개</a:t>
            </a:r>
            <a:endParaRPr lang="en-US" sz="1500" dirty="0"/>
          </a:p>
        </p:txBody>
      </p:sp>
      <p:sp>
        <p:nvSpPr>
          <p:cNvPr id="15" name="option points 3"/>
          <p:cNvSpPr txBox="1"/>
          <p:nvPr/>
        </p:nvSpPr>
        <p:spPr>
          <a:xfrm>
            <a:off x="6309360" y="2651760"/>
            <a:ext cx="2057400" cy="11887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chemeClr val="tx2"/>
                </a:solidFill>
              </a:rPr>
              <a:t>코드를 읽는 부분은 한 번만 만들고 공유</a:t>
            </a:r>
            <a:endParaRPr lang="en-US" sz="1150" dirty="0"/>
          </a:p>
          <a:p>
            <a:pPr marL="342900" indent="-342900">
              <a:spcAft>
                <a:spcPts val="600"/>
              </a:spcAft>
              <a:buSzPct val="100000"/>
              <a:buChar char="•"/>
            </a:pPr>
            <a:r>
              <a:rPr lang="en-US" sz="1150" dirty="0">
                <a:solidFill>
                  <a:schemeClr val="tx2"/>
                </a:solidFill>
              </a:rPr>
              <a:t>사용자가 탭을 직접 골라서 예측 가능</a:t>
            </a:r>
            <a:endParaRPr lang="en-US" sz="1150" dirty="0"/>
          </a:p>
        </p:txBody>
      </p:sp>
      <p:pic>
        <p:nvPicPr>
          <p:cNvPr id="16" name="chosen icon" descr="preencoded.png">    </p:cNvPr>
          <p:cNvPicPr>
            <a:picLocks noChangeAspect="1"/>
          </p:cNvPicPr>
          <p:nvPr/>
        </p:nvPicPr>
        <p:blipFill>
          <a:blip r:embed="rId1"/>
          <a:stretch>
            <a:fillRect/>
          </a:stretch>
        </p:blipFill>
        <p:spPr>
          <a:xfrm>
            <a:off x="6309360" y="3840480"/>
            <a:ext cx="274320" cy="274320"/>
          </a:xfrm>
          <a:prstGeom prst="rect">
            <a:avLst/>
          </a:prstGeom>
        </p:spPr>
      </p:pic>
      <p:sp>
        <p:nvSpPr>
          <p:cNvPr id="17" name="chosen label"/>
          <p:cNvSpPr txBox="1"/>
          <p:nvPr/>
        </p:nvSpPr>
        <p:spPr>
          <a:xfrm>
            <a:off x="6675120" y="3840480"/>
            <a:ext cx="1645920" cy="274320"/>
          </a:xfrm>
          <a:prstGeom prst="rect">
            <a:avLst/>
          </a:prstGeom>
          <a:noFill/>
          <a:ln/>
        </p:spPr>
        <p:txBody>
          <a:bodyPr wrap="square" lIns="0" tIns="0" rIns="0" bIns="0" rtlCol="0" anchor="ctr"/>
          <a:lstStyle/>
          <a:p>
            <a:pPr indent="0" marL="0">
              <a:buNone/>
            </a:pPr>
            <a:r>
              <a:rPr lang="en-US" sz="1200" b="1" dirty="0">
                <a:solidFill>
                  <a:schemeClr val="accent3"/>
                </a:solidFill>
              </a:rPr>
              <a:t>이 방식을 선택</a:t>
            </a:r>
            <a:endParaRPr lang="en-US" sz="120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전체 구조 한 장 요약</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모든 기능은 같은 '설계도(PipelineIR)'를 보고 일합니다</a:t>
            </a:r>
            <a:endParaRPr lang="en-US" sz="1250" dirty="0"/>
          </a:p>
        </p:txBody>
      </p:sp>
      <p:sp>
        <p:nvSpPr>
          <p:cNvPr id="4" name="flow box 1"/>
          <p:cNvSpPr/>
          <p:nvPr/>
        </p:nvSpPr>
        <p:spPr>
          <a:xfrm>
            <a:off x="457200" y="2148840"/>
            <a:ext cx="1463040" cy="914400"/>
          </a:xfrm>
          <a:prstGeom prst="roundRect">
            <a:avLst>
              <a:gd name="adj" fmla="val 12000"/>
            </a:avLst>
          </a:prstGeom>
          <a:solidFill>
            <a:schemeClr val="accent6">
              <a:alpha val="10000"/>
            </a:schemeClr>
          </a:solidFill>
          <a:ln w="12700">
            <a:solidFill>
              <a:schemeClr val="accent6">
                <a:alpha val="25000"/>
              </a:schemeClr>
            </a:solidFill>
            <a:prstDash val="solid"/>
          </a:ln>
        </p:spPr>
      </p:sp>
      <p:sp>
        <p:nvSpPr>
          <p:cNvPr id="5" name="flow title 1"/>
          <p:cNvSpPr txBox="1"/>
          <p:nvPr/>
        </p:nvSpPr>
        <p:spPr>
          <a:xfrm>
            <a:off x="594360" y="2276856"/>
            <a:ext cx="1188720" cy="274320"/>
          </a:xfrm>
          <a:prstGeom prst="rect">
            <a:avLst/>
          </a:prstGeom>
          <a:noFill/>
          <a:ln/>
        </p:spPr>
        <p:txBody>
          <a:bodyPr wrap="square" lIns="0" tIns="0" rIns="0" bIns="0" rtlCol="0" anchor="t"/>
          <a:lstStyle/>
          <a:p>
            <a:pPr indent="0" marL="0">
              <a:buNone/>
            </a:pPr>
            <a:r>
              <a:rPr lang="en-US" sz="1250" b="1" dirty="0">
                <a:solidFill>
                  <a:schemeClr val="tx1"/>
                </a:solidFill>
              </a:rPr>
              <a:t>입력</a:t>
            </a:r>
            <a:endParaRPr lang="en-US" sz="1250" dirty="0"/>
          </a:p>
        </p:txBody>
      </p:sp>
      <p:sp>
        <p:nvSpPr>
          <p:cNvPr id="6" name="flow text 1"/>
          <p:cNvSpPr txBox="1"/>
          <p:nvPr/>
        </p:nvSpPr>
        <p:spPr>
          <a:xfrm>
            <a:off x="594360" y="2578608"/>
            <a:ext cx="1234440" cy="411480"/>
          </a:xfrm>
          <a:prstGeom prst="rect">
            <a:avLst/>
          </a:prstGeom>
          <a:noFill/>
          <a:ln/>
        </p:spPr>
        <p:txBody>
          <a:bodyPr wrap="square" lIns="0" tIns="0" rIns="0" bIns="0" rtlCol="0" anchor="t"/>
          <a:lstStyle/>
          <a:p>
            <a:pPr indent="0" marL="0">
              <a:buNone/>
            </a:pPr>
            <a:r>
              <a:rPr lang="en-US" sz="900" dirty="0">
                <a:solidFill>
                  <a:schemeClr val="tx2"/>
                </a:solidFill>
              </a:rPr>
              <a:t>R · Python · Rmd</a:t>
            </a:r>
            <a:endParaRPr lang="en-US" sz="900" dirty="0"/>
          </a:p>
          <a:p>
            <a:pPr indent="0" marL="0">
              <a:buNone/>
            </a:pPr>
            <a:r>
              <a:rPr lang="en-US" sz="900" dirty="0">
                <a:solidFill>
                  <a:schemeClr val="tx2"/>
                </a:solidFill>
              </a:rPr>
              <a:t>ipynb 파일</a:t>
            </a:r>
            <a:endParaRPr lang="en-US" sz="900" dirty="0"/>
          </a:p>
        </p:txBody>
      </p:sp>
      <p:sp>
        <p:nvSpPr>
          <p:cNvPr id="7" name="flow arrow 1"/>
          <p:cNvSpPr/>
          <p:nvPr/>
        </p:nvSpPr>
        <p:spPr>
          <a:xfrm>
            <a:off x="1920240" y="2606040"/>
            <a:ext cx="228600" cy="914"/>
          </a:xfrm>
          <a:prstGeom prst="line">
            <a:avLst/>
          </a:prstGeom>
          <a:noFill/>
          <a:ln w="15875">
            <a:solidFill>
              <a:srgbClr val="6B7280"/>
            </a:solidFill>
            <a:prstDash val="solid"/>
            <a:tailEnd type="triangle"/>
          </a:ln>
        </p:spPr>
      </p:sp>
      <p:sp>
        <p:nvSpPr>
          <p:cNvPr id="8" name="flow box 2"/>
          <p:cNvSpPr/>
          <p:nvPr/>
        </p:nvSpPr>
        <p:spPr>
          <a:xfrm>
            <a:off x="2148840" y="2148840"/>
            <a:ext cx="1463040" cy="914400"/>
          </a:xfrm>
          <a:prstGeom prst="roundRect">
            <a:avLst>
              <a:gd name="adj" fmla="val 12000"/>
            </a:avLst>
          </a:prstGeom>
          <a:solidFill>
            <a:schemeClr val="accent6">
              <a:alpha val="10000"/>
            </a:schemeClr>
          </a:solidFill>
          <a:ln w="12700">
            <a:solidFill>
              <a:schemeClr val="accent6">
                <a:alpha val="25000"/>
              </a:schemeClr>
            </a:solidFill>
            <a:prstDash val="solid"/>
          </a:ln>
        </p:spPr>
      </p:sp>
      <p:sp>
        <p:nvSpPr>
          <p:cNvPr id="9" name="flow title 2"/>
          <p:cNvSpPr txBox="1"/>
          <p:nvPr/>
        </p:nvSpPr>
        <p:spPr>
          <a:xfrm>
            <a:off x="2286000" y="2276856"/>
            <a:ext cx="1188720" cy="274320"/>
          </a:xfrm>
          <a:prstGeom prst="rect">
            <a:avLst/>
          </a:prstGeom>
          <a:noFill/>
          <a:ln/>
        </p:spPr>
        <p:txBody>
          <a:bodyPr wrap="square" lIns="0" tIns="0" rIns="0" bIns="0" rtlCol="0" anchor="t"/>
          <a:lstStyle/>
          <a:p>
            <a:pPr indent="0" marL="0">
              <a:buNone/>
            </a:pPr>
            <a:r>
              <a:rPr lang="en-US" sz="1250" b="1" dirty="0">
                <a:solidFill>
                  <a:schemeClr val="tx1"/>
                </a:solidFill>
              </a:rPr>
              <a:t>코드 읽기</a:t>
            </a:r>
            <a:endParaRPr lang="en-US" sz="1250" dirty="0"/>
          </a:p>
        </p:txBody>
      </p:sp>
      <p:sp>
        <p:nvSpPr>
          <p:cNvPr id="10" name="flow text 2"/>
          <p:cNvSpPr txBox="1"/>
          <p:nvPr/>
        </p:nvSpPr>
        <p:spPr>
          <a:xfrm>
            <a:off x="2286000" y="2578608"/>
            <a:ext cx="1234440" cy="411480"/>
          </a:xfrm>
          <a:prstGeom prst="rect">
            <a:avLst/>
          </a:prstGeom>
          <a:noFill/>
          <a:ln/>
        </p:spPr>
        <p:txBody>
          <a:bodyPr wrap="square" lIns="0" tIns="0" rIns="0" bIns="0" rtlCol="0" anchor="t"/>
          <a:lstStyle/>
          <a:p>
            <a:pPr indent="0" marL="0">
              <a:buNone/>
            </a:pPr>
            <a:r>
              <a:rPr lang="en-US" sz="900" dirty="0">
                <a:solidFill>
                  <a:schemeClr val="tx2"/>
                </a:solidFill>
              </a:rPr>
              <a:t>loader · static_scan</a:t>
            </a:r>
            <a:endParaRPr lang="en-US" sz="900" dirty="0"/>
          </a:p>
          <a:p>
            <a:pPr indent="0" marL="0">
              <a:buNone/>
            </a:pPr>
            <a:r>
              <a:rPr lang="en-US" sz="900" dirty="0">
                <a:solidFill>
                  <a:schemeClr val="tx2"/>
                </a:solidFill>
              </a:rPr>
              <a:t>(형식별 코드 추출)</a:t>
            </a:r>
            <a:endParaRPr lang="en-US" sz="900" dirty="0"/>
          </a:p>
        </p:txBody>
      </p:sp>
      <p:sp>
        <p:nvSpPr>
          <p:cNvPr id="11" name="flow arrow 2"/>
          <p:cNvSpPr/>
          <p:nvPr/>
        </p:nvSpPr>
        <p:spPr>
          <a:xfrm>
            <a:off x="3611880" y="2606040"/>
            <a:ext cx="228600" cy="914"/>
          </a:xfrm>
          <a:prstGeom prst="line">
            <a:avLst/>
          </a:prstGeom>
          <a:noFill/>
          <a:ln w="15875">
            <a:solidFill>
              <a:srgbClr val="6B7280"/>
            </a:solidFill>
            <a:prstDash val="solid"/>
            <a:tailEnd type="triangle"/>
          </a:ln>
        </p:spPr>
      </p:sp>
      <p:sp>
        <p:nvSpPr>
          <p:cNvPr id="12" name="flow box 3"/>
          <p:cNvSpPr/>
          <p:nvPr/>
        </p:nvSpPr>
        <p:spPr>
          <a:xfrm>
            <a:off x="3840480" y="2148840"/>
            <a:ext cx="1463040" cy="914400"/>
          </a:xfrm>
          <a:prstGeom prst="roundRect">
            <a:avLst>
              <a:gd name="adj" fmla="val 12000"/>
            </a:avLst>
          </a:prstGeom>
          <a:solidFill>
            <a:schemeClr val="tx1">
              <a:alpha val="12000"/>
            </a:schemeClr>
          </a:solidFill>
          <a:ln w="12700">
            <a:solidFill>
              <a:schemeClr val="tx1">
                <a:alpha val="60000"/>
              </a:schemeClr>
            </a:solidFill>
            <a:prstDash val="solid"/>
          </a:ln>
        </p:spPr>
      </p:sp>
      <p:sp>
        <p:nvSpPr>
          <p:cNvPr id="13" name="flow title 3"/>
          <p:cNvSpPr txBox="1"/>
          <p:nvPr/>
        </p:nvSpPr>
        <p:spPr>
          <a:xfrm>
            <a:off x="3977640" y="2276856"/>
            <a:ext cx="1188720" cy="274320"/>
          </a:xfrm>
          <a:prstGeom prst="rect">
            <a:avLst/>
          </a:prstGeom>
          <a:noFill/>
          <a:ln/>
        </p:spPr>
        <p:txBody>
          <a:bodyPr wrap="square" lIns="0" tIns="0" rIns="0" bIns="0" rtlCol="0" anchor="t"/>
          <a:lstStyle/>
          <a:p>
            <a:pPr indent="0" marL="0">
              <a:buNone/>
            </a:pPr>
            <a:r>
              <a:rPr lang="en-US" sz="1250" b="1" dirty="0">
                <a:solidFill>
                  <a:schemeClr val="tx1"/>
                </a:solidFill>
              </a:rPr>
              <a:t>설계도 만들기</a:t>
            </a:r>
            <a:endParaRPr lang="en-US" sz="1250" dirty="0"/>
          </a:p>
        </p:txBody>
      </p:sp>
      <p:sp>
        <p:nvSpPr>
          <p:cNvPr id="14" name="flow text 3"/>
          <p:cNvSpPr txBox="1"/>
          <p:nvPr/>
        </p:nvSpPr>
        <p:spPr>
          <a:xfrm>
            <a:off x="3977640" y="2578608"/>
            <a:ext cx="1234440" cy="411480"/>
          </a:xfrm>
          <a:prstGeom prst="rect">
            <a:avLst/>
          </a:prstGeom>
          <a:noFill/>
          <a:ln/>
        </p:spPr>
        <p:txBody>
          <a:bodyPr wrap="square" lIns="0" tIns="0" rIns="0" bIns="0" rtlCol="0" anchor="t"/>
          <a:lstStyle/>
          <a:p>
            <a:pPr indent="0" marL="0">
              <a:buNone/>
            </a:pPr>
            <a:r>
              <a:rPr lang="en-US" sz="900" dirty="0">
                <a:solidFill>
                  <a:schemeClr val="tx2"/>
                </a:solidFill>
              </a:rPr>
              <a:t>parser → PipelineIR</a:t>
            </a:r>
            <a:endParaRPr lang="en-US" sz="900" dirty="0"/>
          </a:p>
          <a:p>
            <a:pPr indent="0" marL="0">
              <a:buNone/>
            </a:pPr>
            <a:r>
              <a:rPr lang="en-US" sz="900" dirty="0">
                <a:solidFill>
                  <a:schemeClr val="tx2"/>
                </a:solidFill>
              </a:rPr>
              <a:t>(단계 · parameter)</a:t>
            </a:r>
            <a:endParaRPr lang="en-US" sz="900" dirty="0"/>
          </a:p>
        </p:txBody>
      </p:sp>
      <p:sp>
        <p:nvSpPr>
          <p:cNvPr id="15" name="feature box 1"/>
          <p:cNvSpPr/>
          <p:nvPr/>
        </p:nvSpPr>
        <p:spPr>
          <a:xfrm>
            <a:off x="5715000" y="1371600"/>
            <a:ext cx="1463040" cy="685800"/>
          </a:xfrm>
          <a:prstGeom prst="roundRect">
            <a:avLst>
              <a:gd name="adj" fmla="val 16000"/>
            </a:avLst>
          </a:prstGeom>
          <a:solidFill>
            <a:schemeClr val="accent1">
              <a:alpha val="14000"/>
            </a:schemeClr>
          </a:solidFill>
          <a:ln w="12700">
            <a:solidFill>
              <a:schemeClr val="accent1">
                <a:alpha val="40000"/>
              </a:schemeClr>
            </a:solidFill>
            <a:prstDash val="solid"/>
          </a:ln>
        </p:spPr>
      </p:sp>
      <p:sp>
        <p:nvSpPr>
          <p:cNvPr id="16" name="feature title 1"/>
          <p:cNvSpPr txBox="1"/>
          <p:nvPr/>
        </p:nvSpPr>
        <p:spPr>
          <a:xfrm>
            <a:off x="5852160" y="1463040"/>
            <a:ext cx="1188720" cy="256032"/>
          </a:xfrm>
          <a:prstGeom prst="rect">
            <a:avLst/>
          </a:prstGeom>
          <a:noFill/>
          <a:ln/>
        </p:spPr>
        <p:txBody>
          <a:bodyPr wrap="square" lIns="0" tIns="0" rIns="0" bIns="0" rtlCol="0" anchor="t"/>
          <a:lstStyle/>
          <a:p>
            <a:pPr indent="0" marL="0">
              <a:buNone/>
            </a:pPr>
            <a:r>
              <a:rPr lang="en-US" sz="1250" b="1" dirty="0">
                <a:solidFill>
                  <a:schemeClr val="accent1"/>
                </a:solidFill>
              </a:rPr>
              <a:t>① 변환</a:t>
            </a:r>
            <a:endParaRPr lang="en-US" sz="1250" dirty="0"/>
          </a:p>
        </p:txBody>
      </p:sp>
      <p:sp>
        <p:nvSpPr>
          <p:cNvPr id="17" name="feature file 1"/>
          <p:cNvSpPr txBox="1"/>
          <p:nvPr/>
        </p:nvSpPr>
        <p:spPr>
          <a:xfrm>
            <a:off x="5852160" y="1737360"/>
            <a:ext cx="1280160" cy="228600"/>
          </a:xfrm>
          <a:prstGeom prst="rect">
            <a:avLst/>
          </a:prstGeom>
          <a:noFill/>
          <a:ln/>
        </p:spPr>
        <p:txBody>
          <a:bodyPr wrap="square" lIns="0" tIns="0" rIns="0" bIns="0" rtlCol="0" anchor="t"/>
          <a:lstStyle/>
          <a:p>
            <a:pPr indent="0" marL="0">
              <a:buNone/>
            </a:pPr>
            <a:r>
              <a:rPr lang="en-US" sz="900" dirty="0">
                <a:solidFill>
                  <a:schemeClr val="tx2"/>
                </a:solidFill>
              </a:rPr>
              <a:t>converter.py</a:t>
            </a:r>
            <a:endParaRPr lang="en-US" sz="900" dirty="0"/>
          </a:p>
        </p:txBody>
      </p:sp>
      <p:sp>
        <p:nvSpPr>
          <p:cNvPr id="18" name="feature arrow 1"/>
          <p:cNvSpPr/>
          <p:nvPr/>
        </p:nvSpPr>
        <p:spPr>
          <a:xfrm flipV="1">
            <a:off x="5303520" y="1714500"/>
            <a:ext cx="411480" cy="891540"/>
          </a:xfrm>
          <a:prstGeom prst="line">
            <a:avLst/>
          </a:prstGeom>
          <a:noFill/>
          <a:ln w="15875">
            <a:solidFill>
              <a:srgbClr val="6B7280"/>
            </a:solidFill>
            <a:prstDash val="solid"/>
            <a:tailEnd type="triangle"/>
          </a:ln>
        </p:spPr>
      </p:sp>
      <p:sp>
        <p:nvSpPr>
          <p:cNvPr id="19" name="ui arrow 1"/>
          <p:cNvSpPr/>
          <p:nvPr/>
        </p:nvSpPr>
        <p:spPr>
          <a:xfrm>
            <a:off x="7178040" y="1714500"/>
            <a:ext cx="274320" cy="891540"/>
          </a:xfrm>
          <a:prstGeom prst="line">
            <a:avLst/>
          </a:prstGeom>
          <a:noFill/>
          <a:ln w="15875">
            <a:solidFill>
              <a:srgbClr val="6B7280"/>
            </a:solidFill>
            <a:prstDash val="solid"/>
            <a:tailEnd type="triangle"/>
          </a:ln>
        </p:spPr>
      </p:sp>
      <p:sp>
        <p:nvSpPr>
          <p:cNvPr id="20" name="feature box 2"/>
          <p:cNvSpPr/>
          <p:nvPr/>
        </p:nvSpPr>
        <p:spPr>
          <a:xfrm>
            <a:off x="5715000" y="2240280"/>
            <a:ext cx="1463040" cy="685800"/>
          </a:xfrm>
          <a:prstGeom prst="roundRect">
            <a:avLst>
              <a:gd name="adj" fmla="val 16000"/>
            </a:avLst>
          </a:prstGeom>
          <a:solidFill>
            <a:schemeClr val="accent2">
              <a:alpha val="14000"/>
            </a:schemeClr>
          </a:solidFill>
          <a:ln w="12700">
            <a:solidFill>
              <a:schemeClr val="accent2">
                <a:alpha val="40000"/>
              </a:schemeClr>
            </a:solidFill>
            <a:prstDash val="solid"/>
          </a:ln>
        </p:spPr>
      </p:sp>
      <p:sp>
        <p:nvSpPr>
          <p:cNvPr id="21" name="feature title 2"/>
          <p:cNvSpPr txBox="1"/>
          <p:nvPr/>
        </p:nvSpPr>
        <p:spPr>
          <a:xfrm>
            <a:off x="5852160" y="2331720"/>
            <a:ext cx="1188720" cy="256032"/>
          </a:xfrm>
          <a:prstGeom prst="rect">
            <a:avLst/>
          </a:prstGeom>
          <a:noFill/>
          <a:ln/>
        </p:spPr>
        <p:txBody>
          <a:bodyPr wrap="square" lIns="0" tIns="0" rIns="0" bIns="0" rtlCol="0" anchor="t"/>
          <a:lstStyle/>
          <a:p>
            <a:pPr indent="0" marL="0">
              <a:buNone/>
            </a:pPr>
            <a:r>
              <a:rPr lang="en-US" sz="1250" b="1" dirty="0">
                <a:solidFill>
                  <a:schemeClr val="accent2"/>
                </a:solidFill>
              </a:rPr>
              <a:t>② 비교</a:t>
            </a:r>
            <a:endParaRPr lang="en-US" sz="1250" dirty="0"/>
          </a:p>
        </p:txBody>
      </p:sp>
      <p:sp>
        <p:nvSpPr>
          <p:cNvPr id="22" name="feature file 2"/>
          <p:cNvSpPr txBox="1"/>
          <p:nvPr/>
        </p:nvSpPr>
        <p:spPr>
          <a:xfrm>
            <a:off x="5852160" y="2606040"/>
            <a:ext cx="1280160" cy="228600"/>
          </a:xfrm>
          <a:prstGeom prst="rect">
            <a:avLst/>
          </a:prstGeom>
          <a:noFill/>
          <a:ln/>
        </p:spPr>
        <p:txBody>
          <a:bodyPr wrap="square" lIns="0" tIns="0" rIns="0" bIns="0" rtlCol="0" anchor="t"/>
          <a:lstStyle/>
          <a:p>
            <a:pPr indent="0" marL="0">
              <a:buNone/>
            </a:pPr>
            <a:r>
              <a:rPr lang="en-US" sz="900" dirty="0">
                <a:solidFill>
                  <a:schemeClr val="tx2"/>
                </a:solidFill>
              </a:rPr>
              <a:t>comparator.py</a:t>
            </a:r>
            <a:endParaRPr lang="en-US" sz="900" dirty="0"/>
          </a:p>
        </p:txBody>
      </p:sp>
      <p:sp>
        <p:nvSpPr>
          <p:cNvPr id="23" name="feature arrow 2"/>
          <p:cNvSpPr/>
          <p:nvPr/>
        </p:nvSpPr>
        <p:spPr>
          <a:xfrm flipV="1">
            <a:off x="5303520" y="2583180"/>
            <a:ext cx="411480" cy="22860"/>
          </a:xfrm>
          <a:prstGeom prst="line">
            <a:avLst/>
          </a:prstGeom>
          <a:noFill/>
          <a:ln w="15875">
            <a:solidFill>
              <a:srgbClr val="6B7280"/>
            </a:solidFill>
            <a:prstDash val="solid"/>
            <a:tailEnd type="triangle"/>
          </a:ln>
        </p:spPr>
      </p:sp>
      <p:sp>
        <p:nvSpPr>
          <p:cNvPr id="24" name="ui arrow 2"/>
          <p:cNvSpPr/>
          <p:nvPr/>
        </p:nvSpPr>
        <p:spPr>
          <a:xfrm>
            <a:off x="7178040" y="2583180"/>
            <a:ext cx="274320" cy="22860"/>
          </a:xfrm>
          <a:prstGeom prst="line">
            <a:avLst/>
          </a:prstGeom>
          <a:noFill/>
          <a:ln w="15875">
            <a:solidFill>
              <a:srgbClr val="6B7280"/>
            </a:solidFill>
            <a:prstDash val="solid"/>
            <a:tailEnd type="triangle"/>
          </a:ln>
        </p:spPr>
      </p:sp>
      <p:sp>
        <p:nvSpPr>
          <p:cNvPr id="25" name="feature box 3"/>
          <p:cNvSpPr/>
          <p:nvPr/>
        </p:nvSpPr>
        <p:spPr>
          <a:xfrm>
            <a:off x="5715000" y="3108960"/>
            <a:ext cx="1463040" cy="685800"/>
          </a:xfrm>
          <a:prstGeom prst="roundRect">
            <a:avLst>
              <a:gd name="adj" fmla="val 16000"/>
            </a:avLst>
          </a:prstGeom>
          <a:solidFill>
            <a:schemeClr val="accent3">
              <a:alpha val="14000"/>
            </a:schemeClr>
          </a:solidFill>
          <a:ln w="12700">
            <a:solidFill>
              <a:schemeClr val="accent3">
                <a:alpha val="40000"/>
              </a:schemeClr>
            </a:solidFill>
            <a:prstDash val="solid"/>
          </a:ln>
        </p:spPr>
      </p:sp>
      <p:sp>
        <p:nvSpPr>
          <p:cNvPr id="26" name="feature title 3"/>
          <p:cNvSpPr txBox="1"/>
          <p:nvPr/>
        </p:nvSpPr>
        <p:spPr>
          <a:xfrm>
            <a:off x="5852160" y="3200400"/>
            <a:ext cx="1188720" cy="256032"/>
          </a:xfrm>
          <a:prstGeom prst="rect">
            <a:avLst/>
          </a:prstGeom>
          <a:noFill/>
          <a:ln/>
        </p:spPr>
        <p:txBody>
          <a:bodyPr wrap="square" lIns="0" tIns="0" rIns="0" bIns="0" rtlCol="0" anchor="t"/>
          <a:lstStyle/>
          <a:p>
            <a:pPr indent="0" marL="0">
              <a:buNone/>
            </a:pPr>
            <a:r>
              <a:rPr lang="en-US" sz="1250" b="1" dirty="0">
                <a:solidFill>
                  <a:schemeClr val="accent3"/>
                </a:solidFill>
              </a:rPr>
              <a:t>③ 가이드</a:t>
            </a:r>
            <a:endParaRPr lang="en-US" sz="1250" dirty="0"/>
          </a:p>
        </p:txBody>
      </p:sp>
      <p:sp>
        <p:nvSpPr>
          <p:cNvPr id="27" name="feature file 3"/>
          <p:cNvSpPr txBox="1"/>
          <p:nvPr/>
        </p:nvSpPr>
        <p:spPr>
          <a:xfrm>
            <a:off x="5852160" y="3474720"/>
            <a:ext cx="1280160" cy="228600"/>
          </a:xfrm>
          <a:prstGeom prst="rect">
            <a:avLst/>
          </a:prstGeom>
          <a:noFill/>
          <a:ln/>
        </p:spPr>
        <p:txBody>
          <a:bodyPr wrap="square" lIns="0" tIns="0" rIns="0" bIns="0" rtlCol="0" anchor="t"/>
          <a:lstStyle/>
          <a:p>
            <a:pPr indent="0" marL="0">
              <a:buNone/>
            </a:pPr>
            <a:r>
              <a:rPr lang="en-US" sz="900" dirty="0">
                <a:solidFill>
                  <a:schemeClr val="tx2"/>
                </a:solidFill>
              </a:rPr>
              <a:t>param_advisor.py</a:t>
            </a:r>
            <a:endParaRPr lang="en-US" sz="900" dirty="0"/>
          </a:p>
        </p:txBody>
      </p:sp>
      <p:sp>
        <p:nvSpPr>
          <p:cNvPr id="28" name="feature arrow 3"/>
          <p:cNvSpPr/>
          <p:nvPr/>
        </p:nvSpPr>
        <p:spPr>
          <a:xfrm>
            <a:off x="5303520" y="2606040"/>
            <a:ext cx="411480" cy="845820"/>
          </a:xfrm>
          <a:prstGeom prst="line">
            <a:avLst/>
          </a:prstGeom>
          <a:noFill/>
          <a:ln w="15875">
            <a:solidFill>
              <a:srgbClr val="6B7280"/>
            </a:solidFill>
            <a:prstDash val="solid"/>
            <a:tailEnd type="triangle"/>
          </a:ln>
        </p:spPr>
      </p:sp>
      <p:sp>
        <p:nvSpPr>
          <p:cNvPr id="29" name="ui arrow 3"/>
          <p:cNvSpPr/>
          <p:nvPr/>
        </p:nvSpPr>
        <p:spPr>
          <a:xfrm flipV="1">
            <a:off x="7178040" y="2606040"/>
            <a:ext cx="274320" cy="845820"/>
          </a:xfrm>
          <a:prstGeom prst="line">
            <a:avLst/>
          </a:prstGeom>
          <a:noFill/>
          <a:ln w="15875">
            <a:solidFill>
              <a:srgbClr val="6B7280"/>
            </a:solidFill>
            <a:prstDash val="solid"/>
            <a:tailEnd type="triangle"/>
          </a:ln>
        </p:spPr>
      </p:sp>
      <p:sp>
        <p:nvSpPr>
          <p:cNvPr id="30" name="ui box"/>
          <p:cNvSpPr/>
          <p:nvPr/>
        </p:nvSpPr>
        <p:spPr>
          <a:xfrm>
            <a:off x="7452360" y="2148840"/>
            <a:ext cx="1234440" cy="914400"/>
          </a:xfrm>
          <a:prstGeom prst="roundRect">
            <a:avLst>
              <a:gd name="adj" fmla="val 12000"/>
            </a:avLst>
          </a:prstGeom>
          <a:solidFill>
            <a:schemeClr val="accent6">
              <a:alpha val="10000"/>
            </a:schemeClr>
          </a:solidFill>
          <a:ln w="12700">
            <a:solidFill>
              <a:schemeClr val="accent6">
                <a:alpha val="25000"/>
              </a:schemeClr>
            </a:solidFill>
            <a:prstDash val="solid"/>
          </a:ln>
        </p:spPr>
      </p:sp>
      <p:pic>
        <p:nvPicPr>
          <p:cNvPr id="31" name="ui icon" descr="preencoded.png">    </p:cNvPr>
          <p:cNvPicPr>
            <a:picLocks noChangeAspect="1"/>
          </p:cNvPicPr>
          <p:nvPr/>
        </p:nvPicPr>
        <p:blipFill>
          <a:blip r:embed="rId1"/>
          <a:stretch>
            <a:fillRect/>
          </a:stretch>
        </p:blipFill>
        <p:spPr>
          <a:xfrm>
            <a:off x="7589520" y="2276856"/>
            <a:ext cx="274320" cy="274320"/>
          </a:xfrm>
          <a:prstGeom prst="rect">
            <a:avLst/>
          </a:prstGeom>
        </p:spPr>
      </p:pic>
      <p:sp>
        <p:nvSpPr>
          <p:cNvPr id="32" name="ui title"/>
          <p:cNvSpPr txBox="1"/>
          <p:nvPr/>
        </p:nvSpPr>
        <p:spPr>
          <a:xfrm>
            <a:off x="7909560" y="2276856"/>
            <a:ext cx="731520" cy="274320"/>
          </a:xfrm>
          <a:prstGeom prst="rect">
            <a:avLst/>
          </a:prstGeom>
          <a:noFill/>
          <a:ln/>
        </p:spPr>
        <p:txBody>
          <a:bodyPr wrap="square" lIns="0" tIns="0" rIns="0" bIns="0" rtlCol="0" anchor="ctr"/>
          <a:lstStyle/>
          <a:p>
            <a:pPr indent="0" marL="0">
              <a:buNone/>
            </a:pPr>
            <a:r>
              <a:rPr lang="en-US" sz="1250" b="1" dirty="0">
                <a:solidFill>
                  <a:schemeClr val="tx1"/>
                </a:solidFill>
              </a:rPr>
              <a:t>웹 화면</a:t>
            </a:r>
            <a:endParaRPr lang="en-US" sz="1250" dirty="0"/>
          </a:p>
        </p:txBody>
      </p:sp>
      <p:sp>
        <p:nvSpPr>
          <p:cNvPr id="33" name="ui text"/>
          <p:cNvSpPr txBox="1"/>
          <p:nvPr/>
        </p:nvSpPr>
        <p:spPr>
          <a:xfrm>
            <a:off x="7589520" y="2606040"/>
            <a:ext cx="1051560" cy="411480"/>
          </a:xfrm>
          <a:prstGeom prst="rect">
            <a:avLst/>
          </a:prstGeom>
          <a:noFill/>
          <a:ln/>
        </p:spPr>
        <p:txBody>
          <a:bodyPr wrap="square" lIns="0" tIns="0" rIns="0" bIns="0" rtlCol="0" anchor="t"/>
          <a:lstStyle/>
          <a:p>
            <a:pPr indent="0" marL="0">
              <a:buNone/>
            </a:pPr>
            <a:r>
              <a:rPr lang="en-US" sz="900" dirty="0">
                <a:solidFill>
                  <a:schemeClr val="tx2"/>
                </a:solidFill>
              </a:rPr>
              <a:t>Streamlit</a:t>
            </a:r>
            <a:endParaRPr lang="en-US" sz="900" dirty="0"/>
          </a:p>
          <a:p>
            <a:pPr indent="0" marL="0">
              <a:buNone/>
            </a:pPr>
            <a:r>
              <a:rPr lang="en-US" sz="900" dirty="0">
                <a:solidFill>
                  <a:schemeClr val="tx2"/>
                </a:solidFill>
              </a:rPr>
              <a:t>app.py · ui.py</a:t>
            </a:r>
            <a:endParaRPr lang="en-US" sz="900" dirty="0"/>
          </a:p>
        </p:txBody>
      </p:sp>
      <p:sp>
        <p:nvSpPr>
          <p:cNvPr id="34" name="llm note"/>
          <p:cNvSpPr txBox="1"/>
          <p:nvPr/>
        </p:nvSpPr>
        <p:spPr>
          <a:xfrm>
            <a:off x="457200" y="4069080"/>
            <a:ext cx="8229600" cy="274320"/>
          </a:xfrm>
          <a:prstGeom prst="rect">
            <a:avLst/>
          </a:prstGeom>
          <a:noFill/>
          <a:ln/>
        </p:spPr>
        <p:txBody>
          <a:bodyPr wrap="square" lIns="0" tIns="0" rIns="0" bIns="0" rtlCol="0" anchor="t"/>
          <a:lstStyle/>
          <a:p>
            <a:pPr indent="0" marL="0">
              <a:buNone/>
            </a:pPr>
            <a:r>
              <a:rPr lang="en-US" sz="1100" dirty="0">
                <a:solidFill>
                  <a:schemeClr val="accent6"/>
                </a:solidFill>
              </a:rPr>
              <a:t>AI 호출은 모두 llm.py 한 곳을 거칩니다 (Claude 또는 GPT)</a:t>
            </a:r>
            <a:endParaRPr lang="en-US" sz="110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공통 코어: 코드를 '설계도'로 바꾸기</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PipelineIR = 파이프라인을 단계 목록으로 정리한 구조화 데이터</a:t>
            </a:r>
            <a:endParaRPr lang="en-US" sz="1250" dirty="0"/>
          </a:p>
        </p:txBody>
      </p:sp>
      <p:sp>
        <p:nvSpPr>
          <p:cNvPr id="4" name="ir explanation"/>
          <p:cNvSpPr txBox="1"/>
          <p:nvPr/>
        </p:nvSpPr>
        <p:spPr>
          <a:xfrm>
            <a:off x="457200" y="1371600"/>
            <a:ext cx="3931920" cy="2926080"/>
          </a:xfrm>
          <a:prstGeom prst="rect">
            <a:avLst/>
          </a:prstGeom>
          <a:noFill/>
          <a:ln/>
        </p:spPr>
        <p:txBody>
          <a:bodyPr wrap="square" lIns="0" tIns="0" rIns="0" bIns="0" rtlCol="0" anchor="t"/>
          <a:lstStyle/>
          <a:p>
            <a:pPr indent="0" marL="0">
              <a:spcAft>
                <a:spcPts val="500"/>
              </a:spcAft>
              <a:buNone/>
            </a:pPr>
            <a:r>
              <a:rPr lang="en-US" sz="1400" b="1" dirty="0">
                <a:solidFill>
                  <a:schemeClr val="tx2"/>
                </a:solidFill>
              </a:rPr>
              <a:t>무엇이 담기나요?</a:t>
            </a:r>
            <a:endParaRPr lang="en-US" sz="1200" dirty="0"/>
          </a:p>
          <a:p>
            <a:pPr marL="342900" indent="-342900">
              <a:spcAft>
                <a:spcPts val="500"/>
              </a:spcAft>
              <a:buSzPct val="100000"/>
              <a:buChar char="•"/>
            </a:pPr>
            <a:r>
              <a:rPr lang="en-US" sz="1200" dirty="0">
                <a:solidFill>
                  <a:schemeClr val="tx2"/>
                </a:solidFill>
              </a:rPr>
              <a:t>단계 이름과 표준 카테고리 (QC, 정규화, 클러스터링 …)</a:t>
            </a:r>
            <a:endParaRPr lang="en-US" sz="1200" dirty="0"/>
          </a:p>
          <a:p>
            <a:pPr marL="342900" indent="-342900">
              <a:spcAft>
                <a:spcPts val="500"/>
              </a:spcAft>
              <a:buSzPct val="100000"/>
              <a:buChar char="•"/>
            </a:pPr>
            <a:r>
              <a:rPr lang="en-US" sz="1200" dirty="0">
                <a:solidFill>
                  <a:schemeClr val="tx2"/>
                </a:solidFill>
              </a:rPr>
              <a:t>코드 위치 (몇 번째 줄부터 몇 번째 줄까지)</a:t>
            </a:r>
            <a:endParaRPr lang="en-US" sz="1200" dirty="0"/>
          </a:p>
          <a:p>
            <a:pPr marL="342900" indent="-342900">
              <a:spcAft>
                <a:spcPts val="500"/>
              </a:spcAft>
              <a:buSzPct val="100000"/>
              <a:buChar char="•"/>
            </a:pPr>
            <a:r>
              <a:rPr lang="en-US" sz="1200" dirty="0">
                <a:solidFill>
                  <a:schemeClr val="tx2"/>
                </a:solidFill>
              </a:rPr>
              <a:t>사용한 도구와 입력 · 출력</a:t>
            </a:r>
            <a:endParaRPr lang="en-US" sz="1200" dirty="0"/>
          </a:p>
          <a:p>
            <a:pPr marL="342900" indent="-342900">
              <a:spcAft>
                <a:spcPts val="500"/>
              </a:spcAft>
              <a:buSzPct val="100000"/>
              <a:buChar char="•"/>
            </a:pPr>
            <a:r>
              <a:rPr lang="en-US" sz="1200" dirty="0">
                <a:solidFill>
                  <a:schemeClr val="tx2"/>
                </a:solidFill>
              </a:rPr>
              <a:t>parameter 이름 · 값 · 줄 번호</a:t>
            </a:r>
            <a:endParaRPr lang="en-US" sz="1200" dirty="0"/>
          </a:p>
          <a:p>
            <a:pPr indent="0" marL="0">
              <a:spcAft>
                <a:spcPts val="500"/>
              </a:spcAft>
              <a:buNone/>
            </a:pPr>
            <a:r>
              <a:rPr lang="en-US" sz="600" dirty="0">
                <a:solidFill>
                  <a:schemeClr val="tx2"/>
                </a:solidFill>
              </a:rPr>
              <a:t> </a:t>
            </a:r>
            <a:endParaRPr lang="en-US" sz="1200" dirty="0"/>
          </a:p>
          <a:p>
            <a:pPr indent="0" marL="0">
              <a:spcAft>
                <a:spcPts val="500"/>
              </a:spcAft>
              <a:buNone/>
            </a:pPr>
            <a:r>
              <a:rPr lang="en-US" sz="1400" b="1" dirty="0">
                <a:solidFill>
                  <a:schemeClr val="tx2"/>
                </a:solidFill>
              </a:rPr>
              <a:t>어떻게 만드나요?</a:t>
            </a:r>
            <a:endParaRPr lang="en-US" sz="1200" dirty="0"/>
          </a:p>
          <a:p>
            <a:pPr marL="342900" indent="-342900">
              <a:spcAft>
                <a:spcPts val="500"/>
              </a:spcAft>
              <a:buSzPct val="100000"/>
              <a:buChar char="•"/>
            </a:pPr>
            <a:r>
              <a:rPr lang="en-US" sz="1200" dirty="0">
                <a:solidFill>
                  <a:schemeClr val="tx2"/>
                </a:solidFill>
              </a:rPr>
              <a:t>정적 분석으로 parameter 위치를 먼저 정확히 찾고</a:t>
            </a:r>
            <a:endParaRPr lang="en-US" sz="1200" dirty="0"/>
          </a:p>
          <a:p>
            <a:pPr marL="342900" indent="-342900">
              <a:spcAft>
                <a:spcPts val="500"/>
              </a:spcAft>
              <a:buSzPct val="100000"/>
              <a:buChar char="•"/>
            </a:pPr>
            <a:r>
              <a:rPr lang="en-US" sz="1200" dirty="0">
                <a:solidFill>
                  <a:schemeClr val="tx2"/>
                </a:solidFill>
              </a:rPr>
              <a:t>AI가 단계를 나누고 의미를 붙입니다</a:t>
            </a:r>
            <a:endParaRPr lang="en-US" sz="1200" dirty="0"/>
          </a:p>
        </p:txBody>
      </p:sp>
      <p:sp>
        <p:nvSpPr>
          <p:cNvPr id="5" name="ir example card"/>
          <p:cNvSpPr/>
          <p:nvPr/>
        </p:nvSpPr>
        <p:spPr>
          <a:xfrm>
            <a:off x="4754880" y="1371600"/>
            <a:ext cx="3931920" cy="2926080"/>
          </a:xfrm>
          <a:prstGeom prst="roundRect">
            <a:avLst>
              <a:gd name="adj" fmla="val 3750"/>
            </a:avLst>
          </a:prstGeom>
          <a:solidFill>
            <a:schemeClr val="accent1">
              <a:alpha val="7000"/>
            </a:schemeClr>
          </a:solidFill>
          <a:ln w="12700">
            <a:solidFill>
              <a:schemeClr val="accent1">
                <a:alpha val="30000"/>
              </a:schemeClr>
            </a:solidFill>
            <a:prstDash val="solid"/>
          </a:ln>
        </p:spPr>
      </p:sp>
      <p:sp>
        <p:nvSpPr>
          <p:cNvPr id="6" name="ir example label"/>
          <p:cNvSpPr txBox="1"/>
          <p:nvPr/>
        </p:nvSpPr>
        <p:spPr>
          <a:xfrm>
            <a:off x="5029200" y="1600200"/>
            <a:ext cx="3474720" cy="274320"/>
          </a:xfrm>
          <a:prstGeom prst="rect">
            <a:avLst/>
          </a:prstGeom>
          <a:noFill/>
          <a:ln/>
        </p:spPr>
        <p:txBody>
          <a:bodyPr wrap="square" lIns="0" tIns="0" rIns="0" bIns="0" rtlCol="0" anchor="t"/>
          <a:lstStyle/>
          <a:p>
            <a:pPr indent="0" marL="0">
              <a:buNone/>
            </a:pPr>
            <a:r>
              <a:rPr lang="en-US" sz="1100" b="1" dirty="0">
                <a:solidFill>
                  <a:schemeClr val="accent1"/>
                </a:solidFill>
              </a:rPr>
              <a:t>예시 · scrna_seurat.R 의 한 단계</a:t>
            </a:r>
            <a:endParaRPr lang="en-US" sz="1100" dirty="0"/>
          </a:p>
        </p:txBody>
      </p:sp>
      <p:sp>
        <p:nvSpPr>
          <p:cNvPr id="7" name="ir key 1"/>
          <p:cNvSpPr txBox="1"/>
          <p:nvPr/>
        </p:nvSpPr>
        <p:spPr>
          <a:xfrm>
            <a:off x="5029200" y="2011680"/>
            <a:ext cx="1005840" cy="365760"/>
          </a:xfrm>
          <a:prstGeom prst="rect">
            <a:avLst/>
          </a:prstGeom>
          <a:noFill/>
          <a:ln/>
        </p:spPr>
        <p:txBody>
          <a:bodyPr wrap="square" lIns="0" tIns="0" rIns="0" bIns="0" rtlCol="0" anchor="t"/>
          <a:lstStyle/>
          <a:p>
            <a:pPr indent="0" marL="0">
              <a:buNone/>
            </a:pPr>
            <a:r>
              <a:rPr lang="en-US" sz="1100" dirty="0">
                <a:solidFill>
                  <a:schemeClr val="accent6"/>
                </a:solidFill>
              </a:rPr>
              <a:t>단계</a:t>
            </a:r>
            <a:endParaRPr lang="en-US" sz="1100" dirty="0"/>
          </a:p>
        </p:txBody>
      </p:sp>
      <p:sp>
        <p:nvSpPr>
          <p:cNvPr id="8" name="ir value 1"/>
          <p:cNvSpPr txBox="1"/>
          <p:nvPr/>
        </p:nvSpPr>
        <p:spPr>
          <a:xfrm>
            <a:off x="6080760" y="2011680"/>
            <a:ext cx="2377440" cy="365760"/>
          </a:xfrm>
          <a:prstGeom prst="rect">
            <a:avLst/>
          </a:prstGeom>
          <a:noFill/>
          <a:ln/>
        </p:spPr>
        <p:txBody>
          <a:bodyPr wrap="square" lIns="0" tIns="0" rIns="0" bIns="0" rtlCol="0" anchor="t"/>
          <a:lstStyle/>
          <a:p>
            <a:pPr indent="0" marL="0">
              <a:buNone/>
            </a:pPr>
            <a:r>
              <a:rPr lang="en-US" sz="1150" b="1" dirty="0">
                <a:solidFill>
                  <a:schemeClr val="tx1"/>
                </a:solidFill>
              </a:rPr>
              <a:t>클러스터링</a:t>
            </a:r>
            <a:endParaRPr lang="en-US" sz="1150" dirty="0"/>
          </a:p>
        </p:txBody>
      </p:sp>
      <p:sp>
        <p:nvSpPr>
          <p:cNvPr id="9" name="ir key 2"/>
          <p:cNvSpPr txBox="1"/>
          <p:nvPr/>
        </p:nvSpPr>
        <p:spPr>
          <a:xfrm>
            <a:off x="5029200" y="2423160"/>
            <a:ext cx="1005840" cy="365760"/>
          </a:xfrm>
          <a:prstGeom prst="rect">
            <a:avLst/>
          </a:prstGeom>
          <a:noFill/>
          <a:ln/>
        </p:spPr>
        <p:txBody>
          <a:bodyPr wrap="square" lIns="0" tIns="0" rIns="0" bIns="0" rtlCol="0" anchor="t"/>
          <a:lstStyle/>
          <a:p>
            <a:pPr indent="0" marL="0">
              <a:buNone/>
            </a:pPr>
            <a:r>
              <a:rPr lang="en-US" sz="1100" dirty="0">
                <a:solidFill>
                  <a:schemeClr val="accent6"/>
                </a:solidFill>
              </a:rPr>
              <a:t>카테고리</a:t>
            </a:r>
            <a:endParaRPr lang="en-US" sz="1100" dirty="0"/>
          </a:p>
        </p:txBody>
      </p:sp>
      <p:sp>
        <p:nvSpPr>
          <p:cNvPr id="10" name="ir value 2"/>
          <p:cNvSpPr txBox="1"/>
          <p:nvPr/>
        </p:nvSpPr>
        <p:spPr>
          <a:xfrm>
            <a:off x="6080760" y="2423160"/>
            <a:ext cx="2377440" cy="365760"/>
          </a:xfrm>
          <a:prstGeom prst="rect">
            <a:avLst/>
          </a:prstGeom>
          <a:noFill/>
          <a:ln/>
        </p:spPr>
        <p:txBody>
          <a:bodyPr wrap="square" lIns="0" tIns="0" rIns="0" bIns="0" rtlCol="0" anchor="t"/>
          <a:lstStyle/>
          <a:p>
            <a:pPr indent="0" marL="0">
              <a:buNone/>
            </a:pPr>
            <a:r>
              <a:rPr lang="en-US" sz="1150" b="1" dirty="0">
                <a:solidFill>
                  <a:schemeClr val="tx1"/>
                </a:solidFill>
                <a:latin typeface="Courier New" pitchFamily="34" charset="0"/>
                <a:ea typeface="Courier New" pitchFamily="34" charset="-122"/>
                <a:cs typeface="Courier New" pitchFamily="34" charset="-120"/>
              </a:rPr>
              <a:t>clustering</a:t>
            </a:r>
            <a:endParaRPr lang="en-US" sz="1150" dirty="0"/>
          </a:p>
        </p:txBody>
      </p:sp>
      <p:sp>
        <p:nvSpPr>
          <p:cNvPr id="11" name="ir key 3"/>
          <p:cNvSpPr txBox="1"/>
          <p:nvPr/>
        </p:nvSpPr>
        <p:spPr>
          <a:xfrm>
            <a:off x="5029200" y="2834640"/>
            <a:ext cx="1005840" cy="365760"/>
          </a:xfrm>
          <a:prstGeom prst="rect">
            <a:avLst/>
          </a:prstGeom>
          <a:noFill/>
          <a:ln/>
        </p:spPr>
        <p:txBody>
          <a:bodyPr wrap="square" lIns="0" tIns="0" rIns="0" bIns="0" rtlCol="0" anchor="t"/>
          <a:lstStyle/>
          <a:p>
            <a:pPr indent="0" marL="0">
              <a:buNone/>
            </a:pPr>
            <a:r>
              <a:rPr lang="en-US" sz="1100" dirty="0">
                <a:solidFill>
                  <a:schemeClr val="accent6"/>
                </a:solidFill>
              </a:rPr>
              <a:t>코드 위치</a:t>
            </a:r>
            <a:endParaRPr lang="en-US" sz="1100" dirty="0"/>
          </a:p>
        </p:txBody>
      </p:sp>
      <p:sp>
        <p:nvSpPr>
          <p:cNvPr id="12" name="ir value 3"/>
          <p:cNvSpPr txBox="1"/>
          <p:nvPr/>
        </p:nvSpPr>
        <p:spPr>
          <a:xfrm>
            <a:off x="6080760" y="2834640"/>
            <a:ext cx="2377440" cy="365760"/>
          </a:xfrm>
          <a:prstGeom prst="rect">
            <a:avLst/>
          </a:prstGeom>
          <a:noFill/>
          <a:ln/>
        </p:spPr>
        <p:txBody>
          <a:bodyPr wrap="square" lIns="0" tIns="0" rIns="0" bIns="0" rtlCol="0" anchor="t"/>
          <a:lstStyle/>
          <a:p>
            <a:pPr indent="0" marL="0">
              <a:buNone/>
            </a:pPr>
            <a:r>
              <a:rPr lang="en-US" sz="1150" b="1" dirty="0">
                <a:solidFill>
                  <a:schemeClr val="tx1"/>
                </a:solidFill>
                <a:latin typeface="Courier New" pitchFamily="34" charset="0"/>
                <a:ea typeface="Courier New" pitchFamily="34" charset="-122"/>
                <a:cs typeface="Courier New" pitchFamily="34" charset="-120"/>
              </a:rPr>
              <a:t>22 – 24줄</a:t>
            </a:r>
            <a:endParaRPr lang="en-US" sz="1150" dirty="0"/>
          </a:p>
        </p:txBody>
      </p:sp>
      <p:sp>
        <p:nvSpPr>
          <p:cNvPr id="13" name="ir key 4"/>
          <p:cNvSpPr txBox="1"/>
          <p:nvPr/>
        </p:nvSpPr>
        <p:spPr>
          <a:xfrm>
            <a:off x="5029200" y="3246120"/>
            <a:ext cx="1005840" cy="365760"/>
          </a:xfrm>
          <a:prstGeom prst="rect">
            <a:avLst/>
          </a:prstGeom>
          <a:noFill/>
          <a:ln/>
        </p:spPr>
        <p:txBody>
          <a:bodyPr wrap="square" lIns="0" tIns="0" rIns="0" bIns="0" rtlCol="0" anchor="t"/>
          <a:lstStyle/>
          <a:p>
            <a:pPr indent="0" marL="0">
              <a:buNone/>
            </a:pPr>
            <a:r>
              <a:rPr lang="en-US" sz="1100" dirty="0">
                <a:solidFill>
                  <a:schemeClr val="accent6"/>
                </a:solidFill>
              </a:rPr>
              <a:t>도구</a:t>
            </a:r>
            <a:endParaRPr lang="en-US" sz="1100" dirty="0"/>
          </a:p>
        </p:txBody>
      </p:sp>
      <p:sp>
        <p:nvSpPr>
          <p:cNvPr id="14" name="ir value 4"/>
          <p:cNvSpPr txBox="1"/>
          <p:nvPr/>
        </p:nvSpPr>
        <p:spPr>
          <a:xfrm>
            <a:off x="6080760" y="3246120"/>
            <a:ext cx="2377440" cy="365760"/>
          </a:xfrm>
          <a:prstGeom prst="rect">
            <a:avLst/>
          </a:prstGeom>
          <a:noFill/>
          <a:ln/>
        </p:spPr>
        <p:txBody>
          <a:bodyPr wrap="square" lIns="0" tIns="0" rIns="0" bIns="0" rtlCol="0" anchor="t"/>
          <a:lstStyle/>
          <a:p>
            <a:pPr indent="0" marL="0">
              <a:buNone/>
            </a:pPr>
            <a:r>
              <a:rPr lang="en-US" sz="1150" b="1" dirty="0">
                <a:solidFill>
                  <a:schemeClr val="tx1"/>
                </a:solidFill>
                <a:latin typeface="Courier New" pitchFamily="34" charset="0"/>
                <a:ea typeface="Courier New" pitchFamily="34" charset="-122"/>
                <a:cs typeface="Courier New" pitchFamily="34" charset="-120"/>
              </a:rPr>
              <a:t>FindNeighbors, FindClusters</a:t>
            </a:r>
            <a:endParaRPr lang="en-US" sz="1150" dirty="0"/>
          </a:p>
        </p:txBody>
      </p:sp>
      <p:sp>
        <p:nvSpPr>
          <p:cNvPr id="15" name="ir key 5"/>
          <p:cNvSpPr txBox="1"/>
          <p:nvPr/>
        </p:nvSpPr>
        <p:spPr>
          <a:xfrm>
            <a:off x="5029200" y="3657600"/>
            <a:ext cx="1005840" cy="365760"/>
          </a:xfrm>
          <a:prstGeom prst="rect">
            <a:avLst/>
          </a:prstGeom>
          <a:noFill/>
          <a:ln/>
        </p:spPr>
        <p:txBody>
          <a:bodyPr wrap="square" lIns="0" tIns="0" rIns="0" bIns="0" rtlCol="0" anchor="t"/>
          <a:lstStyle/>
          <a:p>
            <a:pPr indent="0" marL="0">
              <a:buNone/>
            </a:pPr>
            <a:r>
              <a:rPr lang="en-US" sz="1100" dirty="0">
                <a:solidFill>
                  <a:schemeClr val="accent6"/>
                </a:solidFill>
              </a:rPr>
              <a:t>parameter</a:t>
            </a:r>
            <a:endParaRPr lang="en-US" sz="1100" dirty="0"/>
          </a:p>
        </p:txBody>
      </p:sp>
      <p:sp>
        <p:nvSpPr>
          <p:cNvPr id="16" name="ir value 5"/>
          <p:cNvSpPr txBox="1"/>
          <p:nvPr/>
        </p:nvSpPr>
        <p:spPr>
          <a:xfrm>
            <a:off x="6080760" y="3657600"/>
            <a:ext cx="2377440" cy="548640"/>
          </a:xfrm>
          <a:prstGeom prst="rect">
            <a:avLst/>
          </a:prstGeom>
          <a:noFill/>
          <a:ln/>
        </p:spPr>
        <p:txBody>
          <a:bodyPr wrap="square" lIns="0" tIns="0" rIns="0" bIns="0" rtlCol="0" anchor="t"/>
          <a:lstStyle/>
          <a:p>
            <a:pPr indent="0" marL="0">
              <a:buNone/>
            </a:pPr>
            <a:r>
              <a:rPr lang="en-US" sz="1150" b="1" dirty="0">
                <a:solidFill>
                  <a:schemeClr val="tx1"/>
                </a:solidFill>
                <a:latin typeface="Courier New" pitchFamily="34" charset="0"/>
                <a:ea typeface="Courier New" pitchFamily="34" charset="-122"/>
                <a:cs typeface="Courier New" pitchFamily="34" charset="-120"/>
              </a:rPr>
              <a:t>dims = 1:10  (22줄)</a:t>
            </a:r>
            <a:endParaRPr lang="en-US" sz="1150" dirty="0"/>
          </a:p>
          <a:p>
            <a:pPr indent="0" marL="0">
              <a:buNone/>
            </a:pPr>
            <a:r>
              <a:rPr lang="en-US" sz="1150" b="1" dirty="0">
                <a:solidFill>
                  <a:schemeClr val="tx1"/>
                </a:solidFill>
                <a:latin typeface="Courier New" pitchFamily="34" charset="0"/>
                <a:ea typeface="Courier New" pitchFamily="34" charset="-122"/>
                <a:cs typeface="Courier New" pitchFamily="34" charset="-120"/>
              </a:rPr>
              <a:t>resolution = 0.5  (23줄)</a:t>
            </a:r>
            <a:endParaRPr lang="en-US" sz="115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① 변환: 스스로 고치는 '에이전트'</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번역만 하고 끝나지 않고, 실행해 보고 에러가 나면 다시 고칩니다</a:t>
            </a:r>
            <a:endParaRPr lang="en-US" sz="1250" dirty="0"/>
          </a:p>
        </p:txBody>
      </p:sp>
      <p:sp>
        <p:nvSpPr>
          <p:cNvPr id="4" name="loop box 1"/>
          <p:cNvSpPr/>
          <p:nvPr/>
        </p:nvSpPr>
        <p:spPr>
          <a:xfrm>
            <a:off x="640080" y="1463040"/>
            <a:ext cx="1737360" cy="960120"/>
          </a:xfrm>
          <a:prstGeom prst="roundRect">
            <a:avLst>
              <a:gd name="adj" fmla="val 11429"/>
            </a:avLst>
          </a:prstGeom>
          <a:solidFill>
            <a:schemeClr val="accent1">
              <a:alpha val="12000"/>
            </a:schemeClr>
          </a:solidFill>
          <a:ln w="12700">
            <a:solidFill>
              <a:schemeClr val="accent1">
                <a:alpha val="40000"/>
              </a:schemeClr>
            </a:solidFill>
            <a:prstDash val="solid"/>
          </a:ln>
        </p:spPr>
      </p:sp>
      <p:sp>
        <p:nvSpPr>
          <p:cNvPr id="5" name="loop title 1"/>
          <p:cNvSpPr txBox="1"/>
          <p:nvPr/>
        </p:nvSpPr>
        <p:spPr>
          <a:xfrm>
            <a:off x="822960" y="1600200"/>
            <a:ext cx="1371600" cy="274320"/>
          </a:xfrm>
          <a:prstGeom prst="rect">
            <a:avLst/>
          </a:prstGeom>
          <a:noFill/>
          <a:ln/>
        </p:spPr>
        <p:txBody>
          <a:bodyPr wrap="square" lIns="0" tIns="0" rIns="0" bIns="0" rtlCol="0" anchor="t"/>
          <a:lstStyle/>
          <a:p>
            <a:pPr indent="0" marL="0">
              <a:buNone/>
            </a:pPr>
            <a:r>
              <a:rPr lang="en-US" sz="1400" b="1" dirty="0">
                <a:solidFill>
                  <a:schemeClr val="accent1"/>
                </a:solidFill>
              </a:rPr>
              <a:t>변환</a:t>
            </a:r>
            <a:endParaRPr lang="en-US" sz="1400" dirty="0"/>
          </a:p>
        </p:txBody>
      </p:sp>
      <p:sp>
        <p:nvSpPr>
          <p:cNvPr id="6" name="loop text 1"/>
          <p:cNvSpPr txBox="1"/>
          <p:nvPr/>
        </p:nvSpPr>
        <p:spPr>
          <a:xfrm>
            <a:off x="822960" y="1920240"/>
            <a:ext cx="1463040" cy="411480"/>
          </a:xfrm>
          <a:prstGeom prst="rect">
            <a:avLst/>
          </a:prstGeom>
          <a:noFill/>
          <a:ln/>
        </p:spPr>
        <p:txBody>
          <a:bodyPr wrap="square" lIns="0" tIns="0" rIns="0" bIns="0" rtlCol="0" anchor="t"/>
          <a:lstStyle/>
          <a:p>
            <a:pPr indent="0" marL="0">
              <a:buNone/>
            </a:pPr>
            <a:r>
              <a:rPr lang="en-US" sz="1000" dirty="0">
                <a:solidFill>
                  <a:schemeClr val="tx2"/>
                </a:solidFill>
              </a:rPr>
              <a:t>R → Python 코드 생성</a:t>
            </a:r>
            <a:endParaRPr lang="en-US" sz="1000" dirty="0"/>
          </a:p>
        </p:txBody>
      </p:sp>
      <p:sp>
        <p:nvSpPr>
          <p:cNvPr id="7" name="loop box 2"/>
          <p:cNvSpPr/>
          <p:nvPr/>
        </p:nvSpPr>
        <p:spPr>
          <a:xfrm>
            <a:off x="2743200" y="1463040"/>
            <a:ext cx="1737360" cy="960120"/>
          </a:xfrm>
          <a:prstGeom prst="roundRect">
            <a:avLst>
              <a:gd name="adj" fmla="val 11429"/>
            </a:avLst>
          </a:prstGeom>
          <a:solidFill>
            <a:schemeClr val="accent1">
              <a:alpha val="12000"/>
            </a:schemeClr>
          </a:solidFill>
          <a:ln w="12700">
            <a:solidFill>
              <a:schemeClr val="accent1">
                <a:alpha val="40000"/>
              </a:schemeClr>
            </a:solidFill>
            <a:prstDash val="solid"/>
          </a:ln>
        </p:spPr>
      </p:sp>
      <p:sp>
        <p:nvSpPr>
          <p:cNvPr id="8" name="loop title 2"/>
          <p:cNvSpPr txBox="1"/>
          <p:nvPr/>
        </p:nvSpPr>
        <p:spPr>
          <a:xfrm>
            <a:off x="2926080" y="1600200"/>
            <a:ext cx="1371600" cy="274320"/>
          </a:xfrm>
          <a:prstGeom prst="rect">
            <a:avLst/>
          </a:prstGeom>
          <a:noFill/>
          <a:ln/>
        </p:spPr>
        <p:txBody>
          <a:bodyPr wrap="square" lIns="0" tIns="0" rIns="0" bIns="0" rtlCol="0" anchor="t"/>
          <a:lstStyle/>
          <a:p>
            <a:pPr indent="0" marL="0">
              <a:buNone/>
            </a:pPr>
            <a:r>
              <a:rPr lang="en-US" sz="1400" b="1" dirty="0">
                <a:solidFill>
                  <a:schemeClr val="accent1"/>
                </a:solidFill>
              </a:rPr>
              <a:t>실행</a:t>
            </a:r>
            <a:endParaRPr lang="en-US" sz="1400" dirty="0"/>
          </a:p>
        </p:txBody>
      </p:sp>
      <p:sp>
        <p:nvSpPr>
          <p:cNvPr id="9" name="loop text 2"/>
          <p:cNvSpPr txBox="1"/>
          <p:nvPr/>
        </p:nvSpPr>
        <p:spPr>
          <a:xfrm>
            <a:off x="2926080" y="1920240"/>
            <a:ext cx="1463040" cy="411480"/>
          </a:xfrm>
          <a:prstGeom prst="rect">
            <a:avLst/>
          </a:prstGeom>
          <a:noFill/>
          <a:ln/>
        </p:spPr>
        <p:txBody>
          <a:bodyPr wrap="square" lIns="0" tIns="0" rIns="0" bIns="0" rtlCol="0" anchor="t"/>
          <a:lstStyle/>
          <a:p>
            <a:pPr indent="0" marL="0">
              <a:buNone/>
            </a:pPr>
            <a:r>
              <a:rPr lang="en-US" sz="1000" dirty="0">
                <a:solidFill>
                  <a:schemeClr val="tx2"/>
                </a:solidFill>
              </a:rPr>
              <a:t>변환된 코드를 직접 돌려봄</a:t>
            </a:r>
            <a:endParaRPr lang="en-US" sz="1000" dirty="0"/>
          </a:p>
        </p:txBody>
      </p:sp>
      <p:sp>
        <p:nvSpPr>
          <p:cNvPr id="10" name="loop box 3"/>
          <p:cNvSpPr/>
          <p:nvPr/>
        </p:nvSpPr>
        <p:spPr>
          <a:xfrm>
            <a:off x="2743200" y="3063240"/>
            <a:ext cx="1737360" cy="960120"/>
          </a:xfrm>
          <a:prstGeom prst="roundRect">
            <a:avLst>
              <a:gd name="adj" fmla="val 11429"/>
            </a:avLst>
          </a:prstGeom>
          <a:solidFill>
            <a:schemeClr val="accent3">
              <a:alpha val="12000"/>
            </a:schemeClr>
          </a:solidFill>
          <a:ln w="12700">
            <a:solidFill>
              <a:schemeClr val="accent3">
                <a:alpha val="40000"/>
              </a:schemeClr>
            </a:solidFill>
            <a:prstDash val="solid"/>
          </a:ln>
        </p:spPr>
      </p:sp>
      <p:sp>
        <p:nvSpPr>
          <p:cNvPr id="11" name="loop title 3"/>
          <p:cNvSpPr txBox="1"/>
          <p:nvPr/>
        </p:nvSpPr>
        <p:spPr>
          <a:xfrm>
            <a:off x="2926080" y="3200400"/>
            <a:ext cx="1371600" cy="274320"/>
          </a:xfrm>
          <a:prstGeom prst="rect">
            <a:avLst/>
          </a:prstGeom>
          <a:noFill/>
          <a:ln/>
        </p:spPr>
        <p:txBody>
          <a:bodyPr wrap="square" lIns="0" tIns="0" rIns="0" bIns="0" rtlCol="0" anchor="t"/>
          <a:lstStyle/>
          <a:p>
            <a:pPr indent="0" marL="0">
              <a:buNone/>
            </a:pPr>
            <a:r>
              <a:rPr lang="en-US" sz="1400" b="1" dirty="0">
                <a:solidFill>
                  <a:schemeClr val="accent3"/>
                </a:solidFill>
              </a:rPr>
              <a:t>성공?</a:t>
            </a:r>
            <a:endParaRPr lang="en-US" sz="1400" dirty="0"/>
          </a:p>
        </p:txBody>
      </p:sp>
      <p:sp>
        <p:nvSpPr>
          <p:cNvPr id="12" name="loop text 3"/>
          <p:cNvSpPr txBox="1"/>
          <p:nvPr/>
        </p:nvSpPr>
        <p:spPr>
          <a:xfrm>
            <a:off x="2926080" y="3520440"/>
            <a:ext cx="1463040" cy="411480"/>
          </a:xfrm>
          <a:prstGeom prst="rect">
            <a:avLst/>
          </a:prstGeom>
          <a:noFill/>
          <a:ln/>
        </p:spPr>
        <p:txBody>
          <a:bodyPr wrap="square" lIns="0" tIns="0" rIns="0" bIns="0" rtlCol="0" anchor="t"/>
          <a:lstStyle/>
          <a:p>
            <a:pPr indent="0" marL="0">
              <a:buNone/>
            </a:pPr>
            <a:r>
              <a:rPr lang="en-US" sz="1000" dirty="0">
                <a:solidFill>
                  <a:schemeClr val="tx2"/>
                </a:solidFill>
              </a:rPr>
              <a:t>에러가 없으면 완료</a:t>
            </a:r>
            <a:endParaRPr lang="en-US" sz="1000" dirty="0"/>
          </a:p>
        </p:txBody>
      </p:sp>
      <p:sp>
        <p:nvSpPr>
          <p:cNvPr id="13" name="loop box 4"/>
          <p:cNvSpPr/>
          <p:nvPr/>
        </p:nvSpPr>
        <p:spPr>
          <a:xfrm>
            <a:off x="640080" y="3063240"/>
            <a:ext cx="1737360" cy="960120"/>
          </a:xfrm>
          <a:prstGeom prst="roundRect">
            <a:avLst>
              <a:gd name="adj" fmla="val 11429"/>
            </a:avLst>
          </a:prstGeom>
          <a:solidFill>
            <a:schemeClr val="accent1">
              <a:alpha val="12000"/>
            </a:schemeClr>
          </a:solidFill>
          <a:ln w="12700">
            <a:solidFill>
              <a:schemeClr val="accent1">
                <a:alpha val="40000"/>
              </a:schemeClr>
            </a:solidFill>
            <a:prstDash val="solid"/>
          </a:ln>
        </p:spPr>
      </p:sp>
      <p:sp>
        <p:nvSpPr>
          <p:cNvPr id="14" name="loop title 4"/>
          <p:cNvSpPr txBox="1"/>
          <p:nvPr/>
        </p:nvSpPr>
        <p:spPr>
          <a:xfrm>
            <a:off x="822960" y="3200400"/>
            <a:ext cx="1371600" cy="274320"/>
          </a:xfrm>
          <a:prstGeom prst="rect">
            <a:avLst/>
          </a:prstGeom>
          <a:noFill/>
          <a:ln/>
        </p:spPr>
        <p:txBody>
          <a:bodyPr wrap="square" lIns="0" tIns="0" rIns="0" bIns="0" rtlCol="0" anchor="t"/>
          <a:lstStyle/>
          <a:p>
            <a:pPr indent="0" marL="0">
              <a:buNone/>
            </a:pPr>
            <a:r>
              <a:rPr lang="en-US" sz="1400" b="1" dirty="0">
                <a:solidFill>
                  <a:schemeClr val="accent1"/>
                </a:solidFill>
              </a:rPr>
              <a:t>수정</a:t>
            </a:r>
            <a:endParaRPr lang="en-US" sz="1400" dirty="0"/>
          </a:p>
        </p:txBody>
      </p:sp>
      <p:sp>
        <p:nvSpPr>
          <p:cNvPr id="15" name="loop text 4"/>
          <p:cNvSpPr txBox="1"/>
          <p:nvPr/>
        </p:nvSpPr>
        <p:spPr>
          <a:xfrm>
            <a:off x="822960" y="3520440"/>
            <a:ext cx="1463040" cy="411480"/>
          </a:xfrm>
          <a:prstGeom prst="rect">
            <a:avLst/>
          </a:prstGeom>
          <a:noFill/>
          <a:ln/>
        </p:spPr>
        <p:txBody>
          <a:bodyPr wrap="square" lIns="0" tIns="0" rIns="0" bIns="0" rtlCol="0" anchor="t"/>
          <a:lstStyle/>
          <a:p>
            <a:pPr indent="0" marL="0">
              <a:buNone/>
            </a:pPr>
            <a:r>
              <a:rPr lang="en-US" sz="1000" dirty="0">
                <a:solidFill>
                  <a:schemeClr val="tx2"/>
                </a:solidFill>
              </a:rPr>
              <a:t>에러 메시지를 AI에 보내 다시 작성</a:t>
            </a:r>
            <a:endParaRPr lang="en-US" sz="1000" dirty="0"/>
          </a:p>
        </p:txBody>
      </p:sp>
      <p:sp>
        <p:nvSpPr>
          <p:cNvPr id="16" name="loop a1"/>
          <p:cNvSpPr/>
          <p:nvPr/>
        </p:nvSpPr>
        <p:spPr>
          <a:xfrm>
            <a:off x="2377440" y="1938528"/>
            <a:ext cx="365760" cy="914"/>
          </a:xfrm>
          <a:prstGeom prst="line">
            <a:avLst/>
          </a:prstGeom>
          <a:noFill/>
          <a:ln w="15875">
            <a:solidFill>
              <a:srgbClr val="6B7280"/>
            </a:solidFill>
            <a:prstDash val="solid"/>
            <a:tailEnd type="triangle"/>
          </a:ln>
        </p:spPr>
      </p:sp>
      <p:sp>
        <p:nvSpPr>
          <p:cNvPr id="17" name="loop a2"/>
          <p:cNvSpPr/>
          <p:nvPr/>
        </p:nvSpPr>
        <p:spPr>
          <a:xfrm>
            <a:off x="3611880" y="2423160"/>
            <a:ext cx="914" cy="640080"/>
          </a:xfrm>
          <a:prstGeom prst="line">
            <a:avLst/>
          </a:prstGeom>
          <a:noFill/>
          <a:ln w="15875">
            <a:solidFill>
              <a:srgbClr val="6B7280"/>
            </a:solidFill>
            <a:prstDash val="solid"/>
            <a:tailEnd type="triangle"/>
          </a:ln>
        </p:spPr>
      </p:sp>
      <p:sp>
        <p:nvSpPr>
          <p:cNvPr id="18" name="loop a3"/>
          <p:cNvSpPr/>
          <p:nvPr/>
        </p:nvSpPr>
        <p:spPr>
          <a:xfrm flipH="1">
            <a:off x="2377440" y="3547872"/>
            <a:ext cx="365760" cy="914"/>
          </a:xfrm>
          <a:prstGeom prst="line">
            <a:avLst/>
          </a:prstGeom>
          <a:noFill/>
          <a:ln w="15875">
            <a:solidFill>
              <a:srgbClr val="6B7280"/>
            </a:solidFill>
            <a:prstDash val="solid"/>
            <a:tailEnd type="triangle"/>
          </a:ln>
        </p:spPr>
      </p:sp>
      <p:sp>
        <p:nvSpPr>
          <p:cNvPr id="19" name="loop a4"/>
          <p:cNvSpPr/>
          <p:nvPr/>
        </p:nvSpPr>
        <p:spPr>
          <a:xfrm flipV="1">
            <a:off x="1508760" y="2423160"/>
            <a:ext cx="914" cy="640080"/>
          </a:xfrm>
          <a:prstGeom prst="line">
            <a:avLst/>
          </a:prstGeom>
          <a:noFill/>
          <a:ln w="15875">
            <a:solidFill>
              <a:srgbClr val="6B7280"/>
            </a:solidFill>
            <a:prstDash val="solid"/>
            <a:tailEnd type="triangle"/>
          </a:ln>
        </p:spPr>
      </p:sp>
      <p:sp>
        <p:nvSpPr>
          <p:cNvPr id="20" name="loop label"/>
          <p:cNvSpPr txBox="1"/>
          <p:nvPr/>
        </p:nvSpPr>
        <p:spPr>
          <a:xfrm>
            <a:off x="1600200" y="2606040"/>
            <a:ext cx="1371600" cy="274320"/>
          </a:xfrm>
          <a:prstGeom prst="rect">
            <a:avLst/>
          </a:prstGeom>
          <a:noFill/>
          <a:ln/>
        </p:spPr>
        <p:txBody>
          <a:bodyPr wrap="square" lIns="0" tIns="0" rIns="0" bIns="0" rtlCol="0" anchor="t"/>
          <a:lstStyle/>
          <a:p>
            <a:pPr indent="0" marL="0">
              <a:buNone/>
            </a:pPr>
            <a:r>
              <a:rPr lang="en-US" sz="1000" b="1" dirty="0">
                <a:solidFill>
                  <a:schemeClr val="accent1"/>
                </a:solidFill>
              </a:rPr>
              <a:t>최대 3회 반복</a:t>
            </a:r>
            <a:endParaRPr lang="en-US" sz="1000" dirty="0"/>
          </a:p>
        </p:txBody>
      </p:sp>
      <p:sp>
        <p:nvSpPr>
          <p:cNvPr id="21" name="map title"/>
          <p:cNvSpPr txBox="1"/>
          <p:nvPr/>
        </p:nvSpPr>
        <p:spPr>
          <a:xfrm>
            <a:off x="5120640" y="1463040"/>
            <a:ext cx="3566160" cy="274320"/>
          </a:xfrm>
          <a:prstGeom prst="rect">
            <a:avLst/>
          </a:prstGeom>
          <a:noFill/>
          <a:ln/>
        </p:spPr>
        <p:txBody>
          <a:bodyPr wrap="square" lIns="0" tIns="0" rIns="0" bIns="0" rtlCol="0" anchor="t"/>
          <a:lstStyle/>
          <a:p>
            <a:pPr indent="0" marL="0">
              <a:buNone/>
            </a:pPr>
            <a:r>
              <a:rPr lang="en-US" sz="1300" b="1" dirty="0">
                <a:solidFill>
                  <a:schemeClr val="tx1"/>
                </a:solidFill>
              </a:rPr>
              <a:t>패키지 대응표를 미리 알려줍니다</a:t>
            </a:r>
            <a:endParaRPr lang="en-US" sz="1300" dirty="0"/>
          </a:p>
        </p:txBody>
      </p:sp>
      <p:graphicFrame>
        <p:nvGraphicFramePr>
          <p:cNvPr id="7" name="mapping table"/>
          <p:cNvGraphicFramePr>
            <a:graphicFrameLocks noGrp="1"/>
          </p:cNvGraphicFramePr>
          <p:nvPr>
            <p:extLst>
              <p:ext uri="{D42A27DB-BD31-4B8C-83A1-F6EECF244321}">
                <p14:modId xmlns:p14="http://schemas.microsoft.com/office/powerpoint/2010/main" val="1579011935"/>
              </p:ext>
            </p:extLst>
          </p:nvPr>
        </p:nvGraphicFramePr>
        <p:xfrm>
          <a:off x="5120640" y="1828800"/>
          <a:ext cx="3566160" cy="914400"/>
        </p:xfrm>
        <a:graphic>
          <a:graphicData uri="http://schemas.openxmlformats.org/drawingml/2006/table">
            <a:tbl>
              <a:tblPr/>
              <a:tblGrid>
                <a:gridCol w="1463040"/>
                <a:gridCol w="2103120"/>
              </a:tblGrid>
              <a:tr h="292608">
                <a:tc>
                  <a:txBody>
                    <a:bodyPr/>
                    <a:lstStyle/>
                    <a:p>
                      <a:pPr indent="0" marL="0">
                        <a:buNone/>
                      </a:pPr>
                      <a:r>
                        <a:rPr lang="en-US" sz="1000" b="1" dirty="0">
                          <a:solidFill>
                            <a:schemeClr val="accent1"/>
                          </a:solidFill>
                        </a:rPr>
                        <a:t>R</a:t>
                      </a:r>
                      <a:endParaRPr lang="en-US" sz="1000" dirty="0"/>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AF2FD"/>
                    </a:solidFill>
                  </a:tcPr>
                </a:tc>
                <a:tc>
                  <a:txBody>
                    <a:bodyPr/>
                    <a:lstStyle/>
                    <a:p>
                      <a:pPr indent="0" marL="0">
                        <a:buNone/>
                      </a:pPr>
                      <a:r>
                        <a:rPr lang="en-US" sz="1000" b="1" dirty="0">
                          <a:solidFill>
                            <a:schemeClr val="accent1"/>
                          </a:solidFill>
                        </a:rPr>
                        <a:t>Python</a:t>
                      </a:r>
                      <a:endParaRPr lang="en-US" sz="1000" dirty="0"/>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EAF2FD"/>
                    </a:solidFill>
                  </a:tcPr>
                </a:tc>
              </a:tr>
              <a:tr h="292608">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Seurat</a:t>
                      </a:r>
                      <a:endParaRPr lang="en-US" sz="1000" dirty="0">
                        <a:latin typeface="Courier New" charset="0"/>
                        <a:ea typeface="Courier New" charset="0"/>
                        <a:cs typeface="Courier New" charset="0"/>
                      </a:endParaRPr>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scanpy</a:t>
                      </a:r>
                      <a:endParaRPr lang="en-US" sz="1000" dirty="0">
                        <a:latin typeface="Courier New" charset="0"/>
                        <a:ea typeface="Courier New" charset="0"/>
                        <a:cs typeface="Courier New" charset="0"/>
                      </a:endParaRPr>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FindClusters</a:t>
                      </a:r>
                      <a:endParaRPr lang="en-US" sz="1000" dirty="0">
                        <a:latin typeface="Courier New" charset="0"/>
                        <a:ea typeface="Courier New" charset="0"/>
                        <a:cs typeface="Courier New" charset="0"/>
                      </a:endParaRPr>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sc.tl.leiden</a:t>
                      </a:r>
                      <a:endParaRPr lang="en-US" sz="1000" dirty="0">
                        <a:latin typeface="Courier New" charset="0"/>
                        <a:ea typeface="Courier New" charset="0"/>
                        <a:cs typeface="Courier New" charset="0"/>
                      </a:endParaRPr>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NormalizeData</a:t>
                      </a:r>
                      <a:endParaRPr lang="en-US" sz="1000" dirty="0">
                        <a:latin typeface="Courier New" charset="0"/>
                        <a:ea typeface="Courier New" charset="0"/>
                        <a:cs typeface="Courier New" charset="0"/>
                      </a:endParaRPr>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normalize_total + log1p</a:t>
                      </a:r>
                      <a:endParaRPr lang="en-US" sz="1000" dirty="0">
                        <a:latin typeface="Courier New" charset="0"/>
                        <a:ea typeface="Courier New" charset="0"/>
                        <a:cs typeface="Courier New" charset="0"/>
                      </a:endParaRPr>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DESeq2</a:t>
                      </a:r>
                      <a:endParaRPr lang="en-US" sz="1000" dirty="0">
                        <a:latin typeface="Courier New" charset="0"/>
                        <a:ea typeface="Courier New" charset="0"/>
                        <a:cs typeface="Courier New" charset="0"/>
                      </a:endParaRPr>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pydeseq2</a:t>
                      </a:r>
                      <a:endParaRPr lang="en-US" sz="1000" dirty="0">
                        <a:latin typeface="Courier New" charset="0"/>
                        <a:ea typeface="Courier New" charset="0"/>
                        <a:cs typeface="Courier New" charset="0"/>
                      </a:endParaRPr>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92608">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ggplot2</a:t>
                      </a:r>
                      <a:endParaRPr lang="en-US" sz="1000" dirty="0">
                        <a:latin typeface="Courier New" charset="0"/>
                        <a:ea typeface="Courier New" charset="0"/>
                        <a:cs typeface="Courier New" charset="0"/>
                      </a:endParaRPr>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indent="0" marL="0">
                        <a:buNone/>
                      </a:pPr>
                      <a:r>
                        <a:rPr lang="en-US" sz="1000" dirty="0">
                          <a:solidFill>
                            <a:schemeClr val="tx1"/>
                          </a:solidFill>
                          <a:latin typeface="Courier New" pitchFamily="34" charset="0"/>
                          <a:ea typeface="Courier New" pitchFamily="34" charset="-122"/>
                          <a:cs typeface="Courier New" pitchFamily="34" charset="-120"/>
                        </a:rPr>
                        <a:t>plotnine</a:t>
                      </a:r>
                      <a:endParaRPr lang="en-US" sz="1000" dirty="0">
                        <a:latin typeface="Courier New" charset="0"/>
                        <a:ea typeface="Courier New" charset="0"/>
                        <a:cs typeface="Courier New" charset="0"/>
                      </a:endParaRPr>
                    </a:p>
                  </a:txBody>
                  <a:tcPr marL="76200" marR="76200" marT="25400" marB="2540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23" name="map note"/>
          <p:cNvSpPr txBox="1"/>
          <p:nvPr/>
        </p:nvSpPr>
        <p:spPr>
          <a:xfrm>
            <a:off x="5120640" y="3703320"/>
            <a:ext cx="3566160" cy="365760"/>
          </a:xfrm>
          <a:prstGeom prst="rect">
            <a:avLst/>
          </a:prstGeom>
          <a:noFill/>
          <a:ln/>
        </p:spPr>
        <p:txBody>
          <a:bodyPr wrap="square" lIns="0" tIns="0" rIns="0" bIns="0" rtlCol="0" anchor="t"/>
          <a:lstStyle/>
          <a:p>
            <a:pPr indent="0" marL="0">
              <a:buNone/>
            </a:pPr>
            <a:r>
              <a:rPr lang="en-US" sz="950" dirty="0">
                <a:solidFill>
                  <a:schemeClr val="accent6"/>
                </a:solidFill>
              </a:rPr>
              <a:t>knowledge/package_map.yaml · 주의사항(행·열 방향 차이 등)도 함께 출력</a:t>
            </a:r>
            <a:endParaRPr lang="en-US" sz="95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② 비교: 표준 단계표에 맞춰 줄 세우기</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코드가 달라도 '같은 역할의 단계'끼리 나란히 놓고 비교합니다</a:t>
            </a:r>
            <a:endParaRPr lang="en-US" sz="1250" dirty="0"/>
          </a:p>
        </p:txBody>
      </p:sp>
      <p:sp>
        <p:nvSpPr>
          <p:cNvPr id="4" name="cmp header 1"/>
          <p:cNvSpPr txBox="1"/>
          <p:nvPr/>
        </p:nvSpPr>
        <p:spPr>
          <a:xfrm>
            <a:off x="457200" y="1417320"/>
            <a:ext cx="1463040" cy="274320"/>
          </a:xfrm>
          <a:prstGeom prst="rect">
            <a:avLst/>
          </a:prstGeom>
          <a:noFill/>
          <a:ln/>
        </p:spPr>
        <p:txBody>
          <a:bodyPr wrap="square" lIns="0" tIns="0" rIns="0" bIns="0" rtlCol="0" anchor="t"/>
          <a:lstStyle/>
          <a:p>
            <a:pPr indent="0" marL="0">
              <a:buNone/>
            </a:pPr>
            <a:r>
              <a:rPr lang="en-US" sz="1100" b="1" dirty="0">
                <a:solidFill>
                  <a:schemeClr val="accent6"/>
                </a:solidFill>
              </a:rPr>
              <a:t>표준 단계</a:t>
            </a:r>
            <a:endParaRPr lang="en-US" sz="1100" dirty="0"/>
          </a:p>
        </p:txBody>
      </p:sp>
      <p:sp>
        <p:nvSpPr>
          <p:cNvPr id="5" name="cmp header 2"/>
          <p:cNvSpPr txBox="1"/>
          <p:nvPr/>
        </p:nvSpPr>
        <p:spPr>
          <a:xfrm>
            <a:off x="2011680" y="1417320"/>
            <a:ext cx="2194560" cy="274320"/>
          </a:xfrm>
          <a:prstGeom prst="rect">
            <a:avLst/>
          </a:prstGeom>
          <a:noFill/>
          <a:ln/>
        </p:spPr>
        <p:txBody>
          <a:bodyPr wrap="square" lIns="0" tIns="0" rIns="0" bIns="0" rtlCol="0" anchor="t"/>
          <a:lstStyle/>
          <a:p>
            <a:pPr indent="0" marL="0">
              <a:buNone/>
            </a:pPr>
            <a:r>
              <a:rPr lang="en-US" sz="1100" b="1" dirty="0">
                <a:solidFill>
                  <a:schemeClr val="accent6"/>
                </a:solidFill>
              </a:rPr>
              <a:t>A · 내 파이프라인 (R)</a:t>
            </a:r>
            <a:endParaRPr lang="en-US" sz="1100" dirty="0"/>
          </a:p>
        </p:txBody>
      </p:sp>
      <p:sp>
        <p:nvSpPr>
          <p:cNvPr id="6" name="cmp header 3"/>
          <p:cNvSpPr txBox="1"/>
          <p:nvPr/>
        </p:nvSpPr>
        <p:spPr>
          <a:xfrm>
            <a:off x="4297680" y="1417320"/>
            <a:ext cx="2377440" cy="274320"/>
          </a:xfrm>
          <a:prstGeom prst="rect">
            <a:avLst/>
          </a:prstGeom>
          <a:noFill/>
          <a:ln/>
        </p:spPr>
        <p:txBody>
          <a:bodyPr wrap="square" lIns="0" tIns="0" rIns="0" bIns="0" rtlCol="0" anchor="t"/>
          <a:lstStyle/>
          <a:p>
            <a:pPr indent="0" marL="0">
              <a:buNone/>
            </a:pPr>
            <a:r>
              <a:rPr lang="en-US" sz="1100" b="1" dirty="0">
                <a:solidFill>
                  <a:schemeClr val="accent6"/>
                </a:solidFill>
              </a:rPr>
              <a:t>B · 참고 파이프라인 (Python)</a:t>
            </a:r>
            <a:endParaRPr lang="en-US" sz="1100" dirty="0"/>
          </a:p>
        </p:txBody>
      </p:sp>
      <p:sp>
        <p:nvSpPr>
          <p:cNvPr id="7" name="cmp header 4"/>
          <p:cNvSpPr txBox="1"/>
          <p:nvPr/>
        </p:nvSpPr>
        <p:spPr>
          <a:xfrm>
            <a:off x="6766560" y="1417320"/>
            <a:ext cx="1920240" cy="274320"/>
          </a:xfrm>
          <a:prstGeom prst="rect">
            <a:avLst/>
          </a:prstGeom>
          <a:noFill/>
          <a:ln/>
        </p:spPr>
        <p:txBody>
          <a:bodyPr wrap="square" lIns="0" tIns="0" rIns="0" bIns="0" rtlCol="0" anchor="t"/>
          <a:lstStyle/>
          <a:p>
            <a:pPr indent="0" marL="0">
              <a:buNone/>
            </a:pPr>
            <a:r>
              <a:rPr lang="en-US" sz="1100" b="1" dirty="0">
                <a:solidFill>
                  <a:schemeClr val="accent6"/>
                </a:solidFill>
              </a:rPr>
              <a:t>결과</a:t>
            </a:r>
            <a:endParaRPr lang="en-US" sz="1100" dirty="0"/>
          </a:p>
        </p:txBody>
      </p:sp>
      <p:sp>
        <p:nvSpPr>
          <p:cNvPr id="8" name="cmp row 1"/>
          <p:cNvSpPr/>
          <p:nvPr/>
        </p:nvSpPr>
        <p:spPr>
          <a:xfrm>
            <a:off x="365760" y="1728216"/>
            <a:ext cx="8412480" cy="384048"/>
          </a:xfrm>
          <a:prstGeom prst="roundRect">
            <a:avLst>
              <a:gd name="adj" fmla="val 19048"/>
            </a:avLst>
          </a:prstGeom>
          <a:solidFill>
            <a:schemeClr val="bg2"/>
          </a:solidFill>
          <a:ln w="12700">
            <a:solidFill>
              <a:schemeClr val="bg2"/>
            </a:solidFill>
            <a:prstDash val="solid"/>
          </a:ln>
        </p:spPr>
      </p:sp>
      <p:sp>
        <p:nvSpPr>
          <p:cNvPr id="9" name="cmp step 1"/>
          <p:cNvSpPr txBox="1"/>
          <p:nvPr/>
        </p:nvSpPr>
        <p:spPr>
          <a:xfrm>
            <a:off x="457200" y="1783080"/>
            <a:ext cx="1463040" cy="274320"/>
          </a:xfrm>
          <a:prstGeom prst="rect">
            <a:avLst/>
          </a:prstGeom>
          <a:noFill/>
          <a:ln/>
        </p:spPr>
        <p:txBody>
          <a:bodyPr wrap="square" lIns="0" tIns="0" rIns="0" bIns="0" rtlCol="0" anchor="ctr"/>
          <a:lstStyle/>
          <a:p>
            <a:pPr indent="0" marL="0">
              <a:buNone/>
            </a:pPr>
            <a:r>
              <a:rPr lang="en-US" sz="1150" b="1" dirty="0">
                <a:solidFill>
                  <a:schemeClr val="tx1"/>
                </a:solidFill>
              </a:rPr>
              <a:t>QC</a:t>
            </a:r>
            <a:endParaRPr lang="en-US" sz="1150" dirty="0"/>
          </a:p>
        </p:txBody>
      </p:sp>
      <p:sp>
        <p:nvSpPr>
          <p:cNvPr id="10" name="cmp a 1"/>
          <p:cNvSpPr txBox="1"/>
          <p:nvPr/>
        </p:nvSpPr>
        <p:spPr>
          <a:xfrm>
            <a:off x="2011680" y="1783080"/>
            <a:ext cx="219456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subset(nFeature, percent.mt)</a:t>
            </a:r>
            <a:endParaRPr lang="en-US" sz="1000" dirty="0"/>
          </a:p>
        </p:txBody>
      </p:sp>
      <p:sp>
        <p:nvSpPr>
          <p:cNvPr id="11" name="cmp b 1"/>
          <p:cNvSpPr txBox="1"/>
          <p:nvPr/>
        </p:nvSpPr>
        <p:spPr>
          <a:xfrm>
            <a:off x="4297680" y="1783080"/>
            <a:ext cx="237744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filter_cells + pct_counts_mt</a:t>
            </a:r>
            <a:endParaRPr lang="en-US" sz="1000" dirty="0"/>
          </a:p>
        </p:txBody>
      </p:sp>
      <p:sp>
        <p:nvSpPr>
          <p:cNvPr id="12" name="cmp chip 1"/>
          <p:cNvSpPr/>
          <p:nvPr/>
        </p:nvSpPr>
        <p:spPr>
          <a:xfrm>
            <a:off x="6766560" y="1792224"/>
            <a:ext cx="822960" cy="256032"/>
          </a:xfrm>
          <a:prstGeom prst="roundRect">
            <a:avLst>
              <a:gd name="adj" fmla="val 50000"/>
            </a:avLst>
          </a:prstGeom>
          <a:solidFill>
            <a:schemeClr val="accent3">
              <a:alpha val="15000"/>
            </a:schemeClr>
          </a:solidFill>
          <a:ln w="9525">
            <a:solidFill>
              <a:schemeClr val="accent3">
                <a:alpha val="30000"/>
              </a:schemeClr>
            </a:solidFill>
            <a:prstDash val="solid"/>
          </a:ln>
        </p:spPr>
      </p:sp>
      <p:sp>
        <p:nvSpPr>
          <p:cNvPr id="13" name="Text 11"/>
          <p:cNvSpPr txBox="1"/>
          <p:nvPr/>
        </p:nvSpPr>
        <p:spPr>
          <a:xfrm>
            <a:off x="6766560" y="1792224"/>
            <a:ext cx="822960" cy="256032"/>
          </a:xfrm>
          <a:prstGeom prst="rect">
            <a:avLst/>
          </a:prstGeom>
          <a:noFill/>
          <a:ln/>
        </p:spPr>
        <p:txBody>
          <a:bodyPr wrap="square" lIns="0" tIns="0" rIns="0" bIns="0" rtlCol="0" anchor="ctr"/>
          <a:lstStyle/>
          <a:p>
            <a:pPr algn="ctr" indent="0" marL="0">
              <a:buNone/>
            </a:pPr>
            <a:r>
              <a:rPr lang="en-US" sz="1000" b="1" dirty="0">
                <a:solidFill>
                  <a:schemeClr val="accent3"/>
                </a:solidFill>
              </a:rPr>
              <a:t>동일</a:t>
            </a:r>
            <a:endParaRPr lang="en-US" sz="1000" dirty="0"/>
          </a:p>
        </p:txBody>
      </p:sp>
      <p:sp>
        <p:nvSpPr>
          <p:cNvPr id="14" name="cmp row 2"/>
          <p:cNvSpPr/>
          <p:nvPr/>
        </p:nvSpPr>
        <p:spPr>
          <a:xfrm>
            <a:off x="365760" y="2185416"/>
            <a:ext cx="8412480" cy="384048"/>
          </a:xfrm>
          <a:prstGeom prst="roundRect">
            <a:avLst>
              <a:gd name="adj" fmla="val 19048"/>
            </a:avLst>
          </a:prstGeom>
          <a:solidFill>
            <a:schemeClr val="bg1"/>
          </a:solidFill>
          <a:ln w="12700">
            <a:solidFill>
              <a:schemeClr val="bg2"/>
            </a:solidFill>
            <a:prstDash val="solid"/>
          </a:ln>
        </p:spPr>
      </p:sp>
      <p:sp>
        <p:nvSpPr>
          <p:cNvPr id="15" name="cmp step 2"/>
          <p:cNvSpPr txBox="1"/>
          <p:nvPr/>
        </p:nvSpPr>
        <p:spPr>
          <a:xfrm>
            <a:off x="457200" y="2240280"/>
            <a:ext cx="1463040" cy="274320"/>
          </a:xfrm>
          <a:prstGeom prst="rect">
            <a:avLst/>
          </a:prstGeom>
          <a:noFill/>
          <a:ln/>
        </p:spPr>
        <p:txBody>
          <a:bodyPr wrap="square" lIns="0" tIns="0" rIns="0" bIns="0" rtlCol="0" anchor="ctr"/>
          <a:lstStyle/>
          <a:p>
            <a:pPr indent="0" marL="0">
              <a:buNone/>
            </a:pPr>
            <a:r>
              <a:rPr lang="en-US" sz="1150" b="1" dirty="0">
                <a:solidFill>
                  <a:schemeClr val="tx1"/>
                </a:solidFill>
              </a:rPr>
              <a:t>Doublet 제거</a:t>
            </a:r>
            <a:endParaRPr lang="en-US" sz="1150" dirty="0"/>
          </a:p>
        </p:txBody>
      </p:sp>
      <p:sp>
        <p:nvSpPr>
          <p:cNvPr id="16" name="cmp a 2"/>
          <p:cNvSpPr txBox="1"/>
          <p:nvPr/>
        </p:nvSpPr>
        <p:spPr>
          <a:xfrm>
            <a:off x="2011680" y="2240280"/>
            <a:ext cx="219456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a:t>
            </a:r>
            <a:endParaRPr lang="en-US" sz="1000" dirty="0"/>
          </a:p>
        </p:txBody>
      </p:sp>
      <p:sp>
        <p:nvSpPr>
          <p:cNvPr id="17" name="cmp b 2"/>
          <p:cNvSpPr txBox="1"/>
          <p:nvPr/>
        </p:nvSpPr>
        <p:spPr>
          <a:xfrm>
            <a:off x="4297680" y="2240280"/>
            <a:ext cx="237744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sc.pp.scrublet</a:t>
            </a:r>
            <a:endParaRPr lang="en-US" sz="1000" dirty="0"/>
          </a:p>
        </p:txBody>
      </p:sp>
      <p:sp>
        <p:nvSpPr>
          <p:cNvPr id="18" name="cmp chip 2"/>
          <p:cNvSpPr/>
          <p:nvPr/>
        </p:nvSpPr>
        <p:spPr>
          <a:xfrm>
            <a:off x="6766560" y="2249424"/>
            <a:ext cx="822960" cy="256032"/>
          </a:xfrm>
          <a:prstGeom prst="roundRect">
            <a:avLst>
              <a:gd name="adj" fmla="val 50000"/>
            </a:avLst>
          </a:prstGeom>
          <a:solidFill>
            <a:schemeClr val="accent2">
              <a:alpha val="15000"/>
            </a:schemeClr>
          </a:solidFill>
          <a:ln w="9525">
            <a:solidFill>
              <a:schemeClr val="accent2">
                <a:alpha val="30000"/>
              </a:schemeClr>
            </a:solidFill>
            <a:prstDash val="solid"/>
          </a:ln>
        </p:spPr>
      </p:sp>
      <p:sp>
        <p:nvSpPr>
          <p:cNvPr id="19" name="Text 17"/>
          <p:cNvSpPr txBox="1"/>
          <p:nvPr/>
        </p:nvSpPr>
        <p:spPr>
          <a:xfrm>
            <a:off x="6766560" y="2249424"/>
            <a:ext cx="822960" cy="256032"/>
          </a:xfrm>
          <a:prstGeom prst="rect">
            <a:avLst/>
          </a:prstGeom>
          <a:noFill/>
          <a:ln/>
        </p:spPr>
        <p:txBody>
          <a:bodyPr wrap="square" lIns="0" tIns="0" rIns="0" bIns="0" rtlCol="0" anchor="ctr"/>
          <a:lstStyle/>
          <a:p>
            <a:pPr algn="ctr" indent="0" marL="0">
              <a:buNone/>
            </a:pPr>
            <a:r>
              <a:rPr lang="en-US" sz="1000" b="1" dirty="0">
                <a:solidFill>
                  <a:schemeClr val="accent2"/>
                </a:solidFill>
              </a:rPr>
              <a:t>B에만</a:t>
            </a:r>
            <a:endParaRPr lang="en-US" sz="1000" dirty="0"/>
          </a:p>
        </p:txBody>
      </p:sp>
      <p:sp>
        <p:nvSpPr>
          <p:cNvPr id="20" name="cmp row 3"/>
          <p:cNvSpPr/>
          <p:nvPr/>
        </p:nvSpPr>
        <p:spPr>
          <a:xfrm>
            <a:off x="365760" y="2642616"/>
            <a:ext cx="8412480" cy="384048"/>
          </a:xfrm>
          <a:prstGeom prst="roundRect">
            <a:avLst>
              <a:gd name="adj" fmla="val 19048"/>
            </a:avLst>
          </a:prstGeom>
          <a:solidFill>
            <a:schemeClr val="bg2"/>
          </a:solidFill>
          <a:ln w="12700">
            <a:solidFill>
              <a:schemeClr val="bg2"/>
            </a:solidFill>
            <a:prstDash val="solid"/>
          </a:ln>
        </p:spPr>
      </p:sp>
      <p:sp>
        <p:nvSpPr>
          <p:cNvPr id="21" name="cmp step 3"/>
          <p:cNvSpPr txBox="1"/>
          <p:nvPr/>
        </p:nvSpPr>
        <p:spPr>
          <a:xfrm>
            <a:off x="457200" y="2697480"/>
            <a:ext cx="1463040" cy="274320"/>
          </a:xfrm>
          <a:prstGeom prst="rect">
            <a:avLst/>
          </a:prstGeom>
          <a:noFill/>
          <a:ln/>
        </p:spPr>
        <p:txBody>
          <a:bodyPr wrap="square" lIns="0" tIns="0" rIns="0" bIns="0" rtlCol="0" anchor="ctr"/>
          <a:lstStyle/>
          <a:p>
            <a:pPr indent="0" marL="0">
              <a:buNone/>
            </a:pPr>
            <a:r>
              <a:rPr lang="en-US" sz="1150" b="1" dirty="0">
                <a:solidFill>
                  <a:schemeClr val="tx1"/>
                </a:solidFill>
              </a:rPr>
              <a:t>Scaling</a:t>
            </a:r>
            <a:endParaRPr lang="en-US" sz="1150" dirty="0"/>
          </a:p>
        </p:txBody>
      </p:sp>
      <p:sp>
        <p:nvSpPr>
          <p:cNvPr id="22" name="cmp a 3"/>
          <p:cNvSpPr txBox="1"/>
          <p:nvPr/>
        </p:nvSpPr>
        <p:spPr>
          <a:xfrm>
            <a:off x="2011680" y="2697480"/>
            <a:ext cx="219456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ScaleData</a:t>
            </a:r>
            <a:endParaRPr lang="en-US" sz="1000" dirty="0"/>
          </a:p>
        </p:txBody>
      </p:sp>
      <p:sp>
        <p:nvSpPr>
          <p:cNvPr id="23" name="cmp b 3"/>
          <p:cNvSpPr txBox="1"/>
          <p:nvPr/>
        </p:nvSpPr>
        <p:spPr>
          <a:xfrm>
            <a:off x="4297680" y="2697480"/>
            <a:ext cx="237744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regress_out + scale</a:t>
            </a:r>
            <a:endParaRPr lang="en-US" sz="1000" dirty="0"/>
          </a:p>
        </p:txBody>
      </p:sp>
      <p:sp>
        <p:nvSpPr>
          <p:cNvPr id="24" name="cmp chip 3"/>
          <p:cNvSpPr/>
          <p:nvPr/>
        </p:nvSpPr>
        <p:spPr>
          <a:xfrm>
            <a:off x="6766560" y="2706624"/>
            <a:ext cx="822960" cy="256032"/>
          </a:xfrm>
          <a:prstGeom prst="roundRect">
            <a:avLst>
              <a:gd name="adj" fmla="val 50000"/>
            </a:avLst>
          </a:prstGeom>
          <a:solidFill>
            <a:schemeClr val="accent5">
              <a:alpha val="15000"/>
            </a:schemeClr>
          </a:solidFill>
          <a:ln w="9525">
            <a:solidFill>
              <a:schemeClr val="accent5">
                <a:alpha val="30000"/>
              </a:schemeClr>
            </a:solidFill>
            <a:prstDash val="solid"/>
          </a:ln>
        </p:spPr>
      </p:sp>
      <p:sp>
        <p:nvSpPr>
          <p:cNvPr id="25" name="Text 23"/>
          <p:cNvSpPr txBox="1"/>
          <p:nvPr/>
        </p:nvSpPr>
        <p:spPr>
          <a:xfrm>
            <a:off x="6766560" y="2706624"/>
            <a:ext cx="822960" cy="256032"/>
          </a:xfrm>
          <a:prstGeom prst="rect">
            <a:avLst/>
          </a:prstGeom>
          <a:noFill/>
          <a:ln/>
        </p:spPr>
        <p:txBody>
          <a:bodyPr wrap="square" lIns="0" tIns="0" rIns="0" bIns="0" rtlCol="0" anchor="ctr"/>
          <a:lstStyle/>
          <a:p>
            <a:pPr algn="ctr" indent="0" marL="0">
              <a:buNone/>
            </a:pPr>
            <a:r>
              <a:rPr lang="en-US" sz="1000" b="1" dirty="0">
                <a:solidFill>
                  <a:schemeClr val="accent5"/>
                </a:solidFill>
              </a:rPr>
              <a:t>차이</a:t>
            </a:r>
            <a:endParaRPr lang="en-US" sz="1000" dirty="0"/>
          </a:p>
        </p:txBody>
      </p:sp>
      <p:sp>
        <p:nvSpPr>
          <p:cNvPr id="26" name="cmp row 4"/>
          <p:cNvSpPr/>
          <p:nvPr/>
        </p:nvSpPr>
        <p:spPr>
          <a:xfrm>
            <a:off x="365760" y="3099816"/>
            <a:ext cx="8412480" cy="384048"/>
          </a:xfrm>
          <a:prstGeom prst="roundRect">
            <a:avLst>
              <a:gd name="adj" fmla="val 19048"/>
            </a:avLst>
          </a:prstGeom>
          <a:solidFill>
            <a:schemeClr val="bg1"/>
          </a:solidFill>
          <a:ln w="12700">
            <a:solidFill>
              <a:schemeClr val="bg2"/>
            </a:solidFill>
            <a:prstDash val="solid"/>
          </a:ln>
        </p:spPr>
      </p:sp>
      <p:sp>
        <p:nvSpPr>
          <p:cNvPr id="27" name="cmp step 4"/>
          <p:cNvSpPr txBox="1"/>
          <p:nvPr/>
        </p:nvSpPr>
        <p:spPr>
          <a:xfrm>
            <a:off x="457200" y="3154680"/>
            <a:ext cx="1463040" cy="274320"/>
          </a:xfrm>
          <a:prstGeom prst="rect">
            <a:avLst/>
          </a:prstGeom>
          <a:noFill/>
          <a:ln/>
        </p:spPr>
        <p:txBody>
          <a:bodyPr wrap="square" lIns="0" tIns="0" rIns="0" bIns="0" rtlCol="0" anchor="ctr"/>
          <a:lstStyle/>
          <a:p>
            <a:pPr indent="0" marL="0">
              <a:buNone/>
            </a:pPr>
            <a:r>
              <a:rPr lang="en-US" sz="1150" b="1" dirty="0">
                <a:solidFill>
                  <a:schemeClr val="tx1"/>
                </a:solidFill>
              </a:rPr>
              <a:t>클러스터링</a:t>
            </a:r>
            <a:endParaRPr lang="en-US" sz="1150" dirty="0"/>
          </a:p>
        </p:txBody>
      </p:sp>
      <p:sp>
        <p:nvSpPr>
          <p:cNvPr id="28" name="cmp a 4"/>
          <p:cNvSpPr txBox="1"/>
          <p:nvPr/>
        </p:nvSpPr>
        <p:spPr>
          <a:xfrm>
            <a:off x="2011680" y="3154680"/>
            <a:ext cx="219456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Louvain · res 0.5</a:t>
            </a:r>
            <a:endParaRPr lang="en-US" sz="1000" dirty="0"/>
          </a:p>
        </p:txBody>
      </p:sp>
      <p:sp>
        <p:nvSpPr>
          <p:cNvPr id="29" name="cmp b 4"/>
          <p:cNvSpPr txBox="1"/>
          <p:nvPr/>
        </p:nvSpPr>
        <p:spPr>
          <a:xfrm>
            <a:off x="4297680" y="3154680"/>
            <a:ext cx="237744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Leiden · res 0.8</a:t>
            </a:r>
            <a:endParaRPr lang="en-US" sz="1000" dirty="0"/>
          </a:p>
        </p:txBody>
      </p:sp>
      <p:sp>
        <p:nvSpPr>
          <p:cNvPr id="30" name="cmp chip 4"/>
          <p:cNvSpPr/>
          <p:nvPr/>
        </p:nvSpPr>
        <p:spPr>
          <a:xfrm>
            <a:off x="6766560" y="3163824"/>
            <a:ext cx="822960" cy="256032"/>
          </a:xfrm>
          <a:prstGeom prst="roundRect">
            <a:avLst>
              <a:gd name="adj" fmla="val 50000"/>
            </a:avLst>
          </a:prstGeom>
          <a:solidFill>
            <a:schemeClr val="accent5">
              <a:alpha val="15000"/>
            </a:schemeClr>
          </a:solidFill>
          <a:ln w="9525">
            <a:solidFill>
              <a:schemeClr val="accent5">
                <a:alpha val="30000"/>
              </a:schemeClr>
            </a:solidFill>
            <a:prstDash val="solid"/>
          </a:ln>
        </p:spPr>
      </p:sp>
      <p:sp>
        <p:nvSpPr>
          <p:cNvPr id="31" name="Text 29"/>
          <p:cNvSpPr txBox="1"/>
          <p:nvPr/>
        </p:nvSpPr>
        <p:spPr>
          <a:xfrm>
            <a:off x="6766560" y="3163824"/>
            <a:ext cx="822960" cy="256032"/>
          </a:xfrm>
          <a:prstGeom prst="rect">
            <a:avLst/>
          </a:prstGeom>
          <a:noFill/>
          <a:ln/>
        </p:spPr>
        <p:txBody>
          <a:bodyPr wrap="square" lIns="0" tIns="0" rIns="0" bIns="0" rtlCol="0" anchor="ctr"/>
          <a:lstStyle/>
          <a:p>
            <a:pPr algn="ctr" indent="0" marL="0">
              <a:buNone/>
            </a:pPr>
            <a:r>
              <a:rPr lang="en-US" sz="1000" b="1" dirty="0">
                <a:solidFill>
                  <a:schemeClr val="accent5"/>
                </a:solidFill>
              </a:rPr>
              <a:t>차이</a:t>
            </a:r>
            <a:endParaRPr lang="en-US" sz="1000" dirty="0"/>
          </a:p>
        </p:txBody>
      </p:sp>
      <p:sp>
        <p:nvSpPr>
          <p:cNvPr id="32" name="cmp row 5"/>
          <p:cNvSpPr/>
          <p:nvPr/>
        </p:nvSpPr>
        <p:spPr>
          <a:xfrm>
            <a:off x="365760" y="3557016"/>
            <a:ext cx="8412480" cy="384048"/>
          </a:xfrm>
          <a:prstGeom prst="roundRect">
            <a:avLst>
              <a:gd name="adj" fmla="val 19048"/>
            </a:avLst>
          </a:prstGeom>
          <a:solidFill>
            <a:schemeClr val="bg2"/>
          </a:solidFill>
          <a:ln w="12700">
            <a:solidFill>
              <a:schemeClr val="bg2"/>
            </a:solidFill>
            <a:prstDash val="solid"/>
          </a:ln>
        </p:spPr>
      </p:sp>
      <p:sp>
        <p:nvSpPr>
          <p:cNvPr id="33" name="cmp step 5"/>
          <p:cNvSpPr txBox="1"/>
          <p:nvPr/>
        </p:nvSpPr>
        <p:spPr>
          <a:xfrm>
            <a:off x="457200" y="3611880"/>
            <a:ext cx="1463040" cy="274320"/>
          </a:xfrm>
          <a:prstGeom prst="rect">
            <a:avLst/>
          </a:prstGeom>
          <a:noFill/>
          <a:ln/>
        </p:spPr>
        <p:txBody>
          <a:bodyPr wrap="square" lIns="0" tIns="0" rIns="0" bIns="0" rtlCol="0" anchor="ctr"/>
          <a:lstStyle/>
          <a:p>
            <a:pPr indent="0" marL="0">
              <a:buNone/>
            </a:pPr>
            <a:r>
              <a:rPr lang="en-US" sz="1150" b="1" dirty="0">
                <a:solidFill>
                  <a:schemeClr val="tx1"/>
                </a:solidFill>
              </a:rPr>
              <a:t>결과 저장</a:t>
            </a:r>
            <a:endParaRPr lang="en-US" sz="1150" dirty="0"/>
          </a:p>
        </p:txBody>
      </p:sp>
      <p:sp>
        <p:nvSpPr>
          <p:cNvPr id="34" name="cmp a 5"/>
          <p:cNvSpPr txBox="1"/>
          <p:nvPr/>
        </p:nvSpPr>
        <p:spPr>
          <a:xfrm>
            <a:off x="2011680" y="3611880"/>
            <a:ext cx="219456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write.csv(markers)</a:t>
            </a:r>
            <a:endParaRPr lang="en-US" sz="1000" dirty="0"/>
          </a:p>
        </p:txBody>
      </p:sp>
      <p:sp>
        <p:nvSpPr>
          <p:cNvPr id="35" name="cmp b 5"/>
          <p:cNvSpPr txBox="1"/>
          <p:nvPr/>
        </p:nvSpPr>
        <p:spPr>
          <a:xfrm>
            <a:off x="4297680" y="3611880"/>
            <a:ext cx="2377440" cy="274320"/>
          </a:xfrm>
          <a:prstGeom prst="rect">
            <a:avLst/>
          </a:prstGeom>
          <a:noFill/>
          <a:ln/>
        </p:spPr>
        <p:txBody>
          <a:bodyPr wrap="square" lIns="0" tIns="0" rIns="0" bIns="0" rtlCol="0" anchor="ctr"/>
          <a:lstStyle/>
          <a:p>
            <a:pPr indent="0" marL="0">
              <a:buNone/>
            </a:pPr>
            <a:r>
              <a:rPr lang="en-US" sz="1000" dirty="0">
                <a:solidFill>
                  <a:schemeClr val="tx2"/>
                </a:solidFill>
                <a:latin typeface="Courier New" pitchFamily="34" charset="0"/>
                <a:ea typeface="Courier New" pitchFamily="34" charset="-122"/>
                <a:cs typeface="Courier New" pitchFamily="34" charset="-120"/>
              </a:rPr>
              <a:t>—</a:t>
            </a:r>
            <a:endParaRPr lang="en-US" sz="1000" dirty="0"/>
          </a:p>
        </p:txBody>
      </p:sp>
      <p:sp>
        <p:nvSpPr>
          <p:cNvPr id="36" name="cmp chip 5"/>
          <p:cNvSpPr/>
          <p:nvPr/>
        </p:nvSpPr>
        <p:spPr>
          <a:xfrm>
            <a:off x="6766560" y="3621024"/>
            <a:ext cx="822960" cy="256032"/>
          </a:xfrm>
          <a:prstGeom prst="roundRect">
            <a:avLst>
              <a:gd name="adj" fmla="val 50000"/>
            </a:avLst>
          </a:prstGeom>
          <a:solidFill>
            <a:schemeClr val="accent1">
              <a:alpha val="15000"/>
            </a:schemeClr>
          </a:solidFill>
          <a:ln w="9525">
            <a:solidFill>
              <a:schemeClr val="accent1">
                <a:alpha val="30000"/>
              </a:schemeClr>
            </a:solidFill>
            <a:prstDash val="solid"/>
          </a:ln>
        </p:spPr>
      </p:sp>
      <p:sp>
        <p:nvSpPr>
          <p:cNvPr id="37" name="Text 35"/>
          <p:cNvSpPr txBox="1"/>
          <p:nvPr/>
        </p:nvSpPr>
        <p:spPr>
          <a:xfrm>
            <a:off x="6766560" y="3621024"/>
            <a:ext cx="822960" cy="256032"/>
          </a:xfrm>
          <a:prstGeom prst="rect">
            <a:avLst/>
          </a:prstGeom>
          <a:noFill/>
          <a:ln/>
        </p:spPr>
        <p:txBody>
          <a:bodyPr wrap="square" lIns="0" tIns="0" rIns="0" bIns="0" rtlCol="0" anchor="ctr"/>
          <a:lstStyle/>
          <a:p>
            <a:pPr algn="ctr" indent="0" marL="0">
              <a:buNone/>
            </a:pPr>
            <a:r>
              <a:rPr lang="en-US" sz="1000" b="1" dirty="0">
                <a:solidFill>
                  <a:schemeClr val="accent1"/>
                </a:solidFill>
              </a:rPr>
              <a:t>A에만</a:t>
            </a:r>
            <a:endParaRPr lang="en-US" sz="1000" dirty="0"/>
          </a:p>
        </p:txBody>
      </p:sp>
      <p:sp>
        <p:nvSpPr>
          <p:cNvPr id="38" name="cmp note"/>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50" dirty="0">
                <a:solidFill>
                  <a:schemeClr val="accent6"/>
                </a:solidFill>
              </a:rPr>
              <a:t>빠진 단계는 '붙여넣을 수 있는 코드'로 제안합니다 · 기준표: knowledge/canonical_steps.yaml</a:t>
            </a:r>
            <a:endParaRPr lang="en-US" sz="105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③ Parameter 가이드: 두 가지 길</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API 키가 있으면 AI가 자세히, 없으면 내장 지식으로 무료로 동작합니다</a:t>
            </a:r>
            <a:endParaRPr lang="en-US" sz="1250" dirty="0"/>
          </a:p>
        </p:txBody>
      </p:sp>
      <p:sp>
        <p:nvSpPr>
          <p:cNvPr id="4" name="pg input"/>
          <p:cNvSpPr/>
          <p:nvPr/>
        </p:nvSpPr>
        <p:spPr>
          <a:xfrm>
            <a:off x="457200" y="2148840"/>
            <a:ext cx="1554480" cy="914400"/>
          </a:xfrm>
          <a:prstGeom prst="roundRect">
            <a:avLst>
              <a:gd name="adj" fmla="val 12000"/>
            </a:avLst>
          </a:prstGeom>
          <a:solidFill>
            <a:schemeClr val="accent6">
              <a:alpha val="10000"/>
            </a:schemeClr>
          </a:solidFill>
          <a:ln w="12700">
            <a:solidFill>
              <a:schemeClr val="accent6">
                <a:alpha val="25000"/>
              </a:schemeClr>
            </a:solidFill>
            <a:prstDash val="solid"/>
          </a:ln>
        </p:spPr>
      </p:sp>
      <p:sp>
        <p:nvSpPr>
          <p:cNvPr id="5" name="pg input text"/>
          <p:cNvSpPr txBox="1"/>
          <p:nvPr/>
        </p:nvSpPr>
        <p:spPr>
          <a:xfrm>
            <a:off x="640080" y="2286000"/>
            <a:ext cx="1188720" cy="640080"/>
          </a:xfrm>
          <a:prstGeom prst="rect">
            <a:avLst/>
          </a:prstGeom>
          <a:noFill/>
          <a:ln/>
        </p:spPr>
        <p:txBody>
          <a:bodyPr wrap="square" lIns="0" tIns="0" rIns="0" bIns="0" rtlCol="0" anchor="ctr"/>
          <a:lstStyle/>
          <a:p>
            <a:pPr indent="0" marL="0">
              <a:buNone/>
            </a:pPr>
            <a:r>
              <a:rPr lang="en-US" sz="1300" b="1" dirty="0">
                <a:solidFill>
                  <a:schemeClr val="tx1"/>
                </a:solidFill>
              </a:rPr>
              <a:t>파이프라인</a:t>
            </a:r>
            <a:endParaRPr lang="en-US" sz="1300" dirty="0"/>
          </a:p>
          <a:p>
            <a:pPr indent="0" marL="0">
              <a:buNone/>
            </a:pPr>
            <a:r>
              <a:rPr lang="en-US" sz="1300" b="1" dirty="0">
                <a:solidFill>
                  <a:schemeClr val="tx1"/>
                </a:solidFill>
              </a:rPr>
              <a:t>코드</a:t>
            </a:r>
            <a:endParaRPr lang="en-US" sz="1300" dirty="0"/>
          </a:p>
        </p:txBody>
      </p:sp>
      <p:sp>
        <p:nvSpPr>
          <p:cNvPr id="6" name="pg path 1"/>
          <p:cNvSpPr/>
          <p:nvPr/>
        </p:nvSpPr>
        <p:spPr>
          <a:xfrm>
            <a:off x="2743200" y="1417320"/>
            <a:ext cx="3017520" cy="1051560"/>
          </a:xfrm>
          <a:prstGeom prst="roundRect">
            <a:avLst>
              <a:gd name="adj" fmla="val 10435"/>
            </a:avLst>
          </a:prstGeom>
          <a:solidFill>
            <a:schemeClr val="accent1">
              <a:alpha val="12000"/>
            </a:schemeClr>
          </a:solidFill>
          <a:ln w="12700">
            <a:solidFill>
              <a:schemeClr val="accent1">
                <a:alpha val="40000"/>
              </a:schemeClr>
            </a:solidFill>
            <a:prstDash val="solid"/>
          </a:ln>
        </p:spPr>
      </p:sp>
      <p:pic>
        <p:nvPicPr>
          <p:cNvPr id="7" name="pg path icon 1" descr="preencoded.png">    </p:cNvPr>
          <p:cNvPicPr>
            <a:picLocks noChangeAspect="1"/>
          </p:cNvPicPr>
          <p:nvPr/>
        </p:nvPicPr>
        <p:blipFill>
          <a:blip r:embed="rId1"/>
          <a:stretch>
            <a:fillRect/>
          </a:stretch>
        </p:blipFill>
        <p:spPr>
          <a:xfrm>
            <a:off x="2926080" y="1572768"/>
            <a:ext cx="274320" cy="274320"/>
          </a:xfrm>
          <a:prstGeom prst="rect">
            <a:avLst/>
          </a:prstGeom>
        </p:spPr>
      </p:pic>
      <p:sp>
        <p:nvSpPr>
          <p:cNvPr id="8" name="pg path title 1"/>
          <p:cNvSpPr txBox="1"/>
          <p:nvPr/>
        </p:nvSpPr>
        <p:spPr>
          <a:xfrm>
            <a:off x="3291840" y="1554480"/>
            <a:ext cx="2377440" cy="320040"/>
          </a:xfrm>
          <a:prstGeom prst="rect">
            <a:avLst/>
          </a:prstGeom>
          <a:noFill/>
          <a:ln/>
        </p:spPr>
        <p:txBody>
          <a:bodyPr wrap="square" lIns="0" tIns="0" rIns="0" bIns="0" rtlCol="0" anchor="ctr"/>
          <a:lstStyle/>
          <a:p>
            <a:pPr indent="0" marL="0">
              <a:buNone/>
            </a:pPr>
            <a:r>
              <a:rPr lang="en-US" sz="1250" b="1" dirty="0">
                <a:solidFill>
                  <a:schemeClr val="accent1"/>
                </a:solidFill>
              </a:rPr>
              <a:t>AI 모드 (API 키 있음)</a:t>
            </a:r>
            <a:endParaRPr lang="en-US" sz="1250" dirty="0"/>
          </a:p>
        </p:txBody>
      </p:sp>
      <p:sp>
        <p:nvSpPr>
          <p:cNvPr id="9" name="pg path text 1"/>
          <p:cNvSpPr txBox="1"/>
          <p:nvPr/>
        </p:nvSpPr>
        <p:spPr>
          <a:xfrm>
            <a:off x="2926080" y="1920240"/>
            <a:ext cx="2743200" cy="457200"/>
          </a:xfrm>
          <a:prstGeom prst="rect">
            <a:avLst/>
          </a:prstGeom>
          <a:noFill/>
          <a:ln/>
        </p:spPr>
        <p:txBody>
          <a:bodyPr wrap="square" lIns="0" tIns="0" rIns="0" bIns="0" rtlCol="0" anchor="t"/>
          <a:lstStyle/>
          <a:p>
            <a:pPr indent="0" marL="0">
              <a:buNone/>
            </a:pPr>
            <a:r>
              <a:rPr lang="en-US" sz="1000" dirty="0">
                <a:solidFill>
                  <a:schemeClr val="tx2"/>
                </a:solidFill>
              </a:rPr>
              <a:t>설계도 + 코드를 AI가 읽고</a:t>
            </a:r>
            <a:endParaRPr lang="en-US" sz="1000" dirty="0"/>
          </a:p>
          <a:p>
            <a:pPr indent="0" marL="0">
              <a:buNone/>
            </a:pPr>
            <a:r>
              <a:rPr lang="en-US" sz="1000" dirty="0">
                <a:solidFill>
                  <a:schemeClr val="tx2"/>
                </a:solidFill>
              </a:rPr>
              <a:t>쉬운 설명 · 올리면/내리면 · 후보값</a:t>
            </a:r>
            <a:endParaRPr lang="en-US" sz="1000" dirty="0"/>
          </a:p>
        </p:txBody>
      </p:sp>
      <p:sp>
        <p:nvSpPr>
          <p:cNvPr id="10" name="pg in arrow 1"/>
          <p:cNvSpPr/>
          <p:nvPr/>
        </p:nvSpPr>
        <p:spPr>
          <a:xfrm flipV="1">
            <a:off x="2011680" y="1943100"/>
            <a:ext cx="731520" cy="662940"/>
          </a:xfrm>
          <a:prstGeom prst="line">
            <a:avLst/>
          </a:prstGeom>
          <a:noFill/>
          <a:ln w="15875">
            <a:solidFill>
              <a:srgbClr val="6B7280"/>
            </a:solidFill>
            <a:prstDash val="solid"/>
            <a:tailEnd type="triangle"/>
          </a:ln>
        </p:spPr>
      </p:sp>
      <p:sp>
        <p:nvSpPr>
          <p:cNvPr id="11" name="pg out arrow 1"/>
          <p:cNvSpPr/>
          <p:nvPr/>
        </p:nvSpPr>
        <p:spPr>
          <a:xfrm>
            <a:off x="5760720" y="1943100"/>
            <a:ext cx="457200" cy="662940"/>
          </a:xfrm>
          <a:prstGeom prst="line">
            <a:avLst/>
          </a:prstGeom>
          <a:noFill/>
          <a:ln w="15875">
            <a:solidFill>
              <a:srgbClr val="6B7280"/>
            </a:solidFill>
            <a:prstDash val="solid"/>
            <a:tailEnd type="triangle"/>
          </a:ln>
        </p:spPr>
      </p:sp>
      <p:sp>
        <p:nvSpPr>
          <p:cNvPr id="12" name="pg path 2"/>
          <p:cNvSpPr/>
          <p:nvPr/>
        </p:nvSpPr>
        <p:spPr>
          <a:xfrm>
            <a:off x="2743200" y="2926080"/>
            <a:ext cx="3017520" cy="1051560"/>
          </a:xfrm>
          <a:prstGeom prst="roundRect">
            <a:avLst>
              <a:gd name="adj" fmla="val 10435"/>
            </a:avLst>
          </a:prstGeom>
          <a:solidFill>
            <a:schemeClr val="accent2">
              <a:alpha val="12000"/>
            </a:schemeClr>
          </a:solidFill>
          <a:ln w="12700">
            <a:solidFill>
              <a:schemeClr val="accent2">
                <a:alpha val="40000"/>
              </a:schemeClr>
            </a:solidFill>
            <a:prstDash val="solid"/>
          </a:ln>
        </p:spPr>
      </p:sp>
      <p:pic>
        <p:nvPicPr>
          <p:cNvPr id="13" name="pg path icon 2" descr="preencoded.png">    </p:cNvPr>
          <p:cNvPicPr>
            <a:picLocks noChangeAspect="1"/>
          </p:cNvPicPr>
          <p:nvPr/>
        </p:nvPicPr>
        <p:blipFill>
          <a:blip r:embed="rId2"/>
          <a:stretch>
            <a:fillRect/>
          </a:stretch>
        </p:blipFill>
        <p:spPr>
          <a:xfrm>
            <a:off x="2926080" y="3081528"/>
            <a:ext cx="274320" cy="274320"/>
          </a:xfrm>
          <a:prstGeom prst="rect">
            <a:avLst/>
          </a:prstGeom>
        </p:spPr>
      </p:pic>
      <p:sp>
        <p:nvSpPr>
          <p:cNvPr id="14" name="pg path title 2"/>
          <p:cNvSpPr txBox="1"/>
          <p:nvPr/>
        </p:nvSpPr>
        <p:spPr>
          <a:xfrm>
            <a:off x="3291840" y="3063240"/>
            <a:ext cx="2377440" cy="320040"/>
          </a:xfrm>
          <a:prstGeom prst="rect">
            <a:avLst/>
          </a:prstGeom>
          <a:noFill/>
          <a:ln/>
        </p:spPr>
        <p:txBody>
          <a:bodyPr wrap="square" lIns="0" tIns="0" rIns="0" bIns="0" rtlCol="0" anchor="ctr"/>
          <a:lstStyle/>
          <a:p>
            <a:pPr indent="0" marL="0">
              <a:buNone/>
            </a:pPr>
            <a:r>
              <a:rPr lang="en-US" sz="1250" b="1" dirty="0">
                <a:solidFill>
                  <a:schemeClr val="accent2"/>
                </a:solidFill>
              </a:rPr>
              <a:t>오프라인 모드 (키 없음)</a:t>
            </a:r>
            <a:endParaRPr lang="en-US" sz="1250" dirty="0"/>
          </a:p>
        </p:txBody>
      </p:sp>
      <p:sp>
        <p:nvSpPr>
          <p:cNvPr id="15" name="pg path text 2"/>
          <p:cNvSpPr txBox="1"/>
          <p:nvPr/>
        </p:nvSpPr>
        <p:spPr>
          <a:xfrm>
            <a:off x="2926080" y="3429000"/>
            <a:ext cx="2743200" cy="457200"/>
          </a:xfrm>
          <a:prstGeom prst="rect">
            <a:avLst/>
          </a:prstGeom>
          <a:noFill/>
          <a:ln/>
        </p:spPr>
        <p:txBody>
          <a:bodyPr wrap="square" lIns="0" tIns="0" rIns="0" bIns="0" rtlCol="0" anchor="t"/>
          <a:lstStyle/>
          <a:p>
            <a:pPr indent="0" marL="0">
              <a:buNone/>
            </a:pPr>
            <a:r>
              <a:rPr lang="en-US" sz="1000" dirty="0">
                <a:solidFill>
                  <a:schemeClr val="tx2"/>
                </a:solidFill>
              </a:rPr>
              <a:t>정적 분석으로 위치를 찾고</a:t>
            </a:r>
            <a:endParaRPr lang="en-US" sz="1000" dirty="0"/>
          </a:p>
          <a:p>
            <a:pPr indent="0" marL="0">
              <a:buNone/>
            </a:pPr>
            <a:r>
              <a:rPr lang="en-US" sz="1000" dirty="0">
                <a:solidFill>
                  <a:schemeClr val="tx2"/>
                </a:solidFill>
              </a:rPr>
              <a:t>param_hints.yaml의 추천값을 연결</a:t>
            </a:r>
            <a:endParaRPr lang="en-US" sz="1000" dirty="0"/>
          </a:p>
        </p:txBody>
      </p:sp>
      <p:sp>
        <p:nvSpPr>
          <p:cNvPr id="16" name="pg in arrow 2"/>
          <p:cNvSpPr/>
          <p:nvPr/>
        </p:nvSpPr>
        <p:spPr>
          <a:xfrm>
            <a:off x="2011680" y="2606040"/>
            <a:ext cx="731520" cy="845820"/>
          </a:xfrm>
          <a:prstGeom prst="line">
            <a:avLst/>
          </a:prstGeom>
          <a:noFill/>
          <a:ln w="15875">
            <a:solidFill>
              <a:srgbClr val="6B7280"/>
            </a:solidFill>
            <a:prstDash val="solid"/>
            <a:tailEnd type="triangle"/>
          </a:ln>
        </p:spPr>
      </p:sp>
      <p:sp>
        <p:nvSpPr>
          <p:cNvPr id="17" name="pg out arrow 2"/>
          <p:cNvSpPr/>
          <p:nvPr/>
        </p:nvSpPr>
        <p:spPr>
          <a:xfrm flipV="1">
            <a:off x="5760720" y="2606040"/>
            <a:ext cx="457200" cy="845820"/>
          </a:xfrm>
          <a:prstGeom prst="line">
            <a:avLst/>
          </a:prstGeom>
          <a:noFill/>
          <a:ln w="15875">
            <a:solidFill>
              <a:srgbClr val="6B7280"/>
            </a:solidFill>
            <a:prstDash val="solid"/>
            <a:tailEnd type="triangle"/>
          </a:ln>
        </p:spPr>
      </p:sp>
      <p:sp>
        <p:nvSpPr>
          <p:cNvPr id="18" name="pg output"/>
          <p:cNvSpPr/>
          <p:nvPr/>
        </p:nvSpPr>
        <p:spPr>
          <a:xfrm>
            <a:off x="6217920" y="1600200"/>
            <a:ext cx="2468880" cy="2057400"/>
          </a:xfrm>
          <a:prstGeom prst="roundRect">
            <a:avLst>
              <a:gd name="adj" fmla="val 5333"/>
            </a:avLst>
          </a:prstGeom>
          <a:solidFill>
            <a:schemeClr val="accent3">
              <a:alpha val="8000"/>
            </a:schemeClr>
          </a:solidFill>
          <a:ln w="12700">
            <a:solidFill>
              <a:schemeClr val="accent3">
                <a:alpha val="30000"/>
              </a:schemeClr>
            </a:solidFill>
            <a:prstDash val="solid"/>
          </a:ln>
        </p:spPr>
      </p:sp>
      <p:sp>
        <p:nvSpPr>
          <p:cNvPr id="19" name="pg out title"/>
          <p:cNvSpPr txBox="1"/>
          <p:nvPr/>
        </p:nvSpPr>
        <p:spPr>
          <a:xfrm>
            <a:off x="6400800" y="1737360"/>
            <a:ext cx="2103120" cy="274320"/>
          </a:xfrm>
          <a:prstGeom prst="rect">
            <a:avLst/>
          </a:prstGeom>
          <a:noFill/>
          <a:ln/>
        </p:spPr>
        <p:txBody>
          <a:bodyPr wrap="square" lIns="0" tIns="0" rIns="0" bIns="0" rtlCol="0" anchor="t"/>
          <a:lstStyle/>
          <a:p>
            <a:pPr indent="0" marL="0">
              <a:buNone/>
            </a:pPr>
            <a:r>
              <a:rPr lang="en-US" sz="1300" b="1" dirty="0">
                <a:solidFill>
                  <a:schemeClr val="accent3"/>
                </a:solidFill>
              </a:rPr>
              <a:t>결과 화면</a:t>
            </a:r>
            <a:endParaRPr lang="en-US" sz="1300" dirty="0"/>
          </a:p>
        </p:txBody>
      </p:sp>
      <p:sp>
        <p:nvSpPr>
          <p:cNvPr id="20" name="pg chip high"/>
          <p:cNvSpPr/>
          <p:nvPr/>
        </p:nvSpPr>
        <p:spPr>
          <a:xfrm>
            <a:off x="6400800" y="2148840"/>
            <a:ext cx="1005840" cy="256032"/>
          </a:xfrm>
          <a:prstGeom prst="roundRect">
            <a:avLst>
              <a:gd name="adj" fmla="val 50000"/>
            </a:avLst>
          </a:prstGeom>
          <a:solidFill>
            <a:schemeClr val="accent4">
              <a:alpha val="15000"/>
            </a:schemeClr>
          </a:solidFill>
          <a:ln w="9525">
            <a:solidFill>
              <a:schemeClr val="accent4">
                <a:alpha val="30000"/>
              </a:schemeClr>
            </a:solidFill>
            <a:prstDash val="solid"/>
          </a:ln>
        </p:spPr>
      </p:sp>
      <p:sp>
        <p:nvSpPr>
          <p:cNvPr id="21" name="Text 17"/>
          <p:cNvSpPr txBox="1"/>
          <p:nvPr/>
        </p:nvSpPr>
        <p:spPr>
          <a:xfrm>
            <a:off x="6400800" y="2148840"/>
            <a:ext cx="1005840" cy="256032"/>
          </a:xfrm>
          <a:prstGeom prst="rect">
            <a:avLst/>
          </a:prstGeom>
          <a:noFill/>
          <a:ln/>
        </p:spPr>
        <p:txBody>
          <a:bodyPr wrap="square" lIns="0" tIns="0" rIns="0" bIns="0" rtlCol="0" anchor="ctr"/>
          <a:lstStyle/>
          <a:p>
            <a:pPr algn="ctr" indent="0" marL="0">
              <a:buNone/>
            </a:pPr>
            <a:r>
              <a:rPr lang="en-US" sz="1000" b="1" dirty="0">
                <a:solidFill>
                  <a:schemeClr val="accent4"/>
                </a:solidFill>
              </a:rPr>
              <a:t>중요도 높음</a:t>
            </a:r>
            <a:endParaRPr lang="en-US" sz="1000" dirty="0"/>
          </a:p>
        </p:txBody>
      </p:sp>
      <p:sp>
        <p:nvSpPr>
          <p:cNvPr id="22" name="pg chip mid"/>
          <p:cNvSpPr/>
          <p:nvPr/>
        </p:nvSpPr>
        <p:spPr>
          <a:xfrm>
            <a:off x="7498080" y="2148840"/>
            <a:ext cx="1005840" cy="256032"/>
          </a:xfrm>
          <a:prstGeom prst="roundRect">
            <a:avLst>
              <a:gd name="adj" fmla="val 50000"/>
            </a:avLst>
          </a:prstGeom>
          <a:solidFill>
            <a:schemeClr val="accent5">
              <a:alpha val="15000"/>
            </a:schemeClr>
          </a:solidFill>
          <a:ln w="9525">
            <a:solidFill>
              <a:schemeClr val="accent5">
                <a:alpha val="30000"/>
              </a:schemeClr>
            </a:solidFill>
            <a:prstDash val="solid"/>
          </a:ln>
        </p:spPr>
      </p:sp>
      <p:sp>
        <p:nvSpPr>
          <p:cNvPr id="23" name="Text 19"/>
          <p:cNvSpPr txBox="1"/>
          <p:nvPr/>
        </p:nvSpPr>
        <p:spPr>
          <a:xfrm>
            <a:off x="7498080" y="2148840"/>
            <a:ext cx="1005840" cy="256032"/>
          </a:xfrm>
          <a:prstGeom prst="rect">
            <a:avLst/>
          </a:prstGeom>
          <a:noFill/>
          <a:ln/>
        </p:spPr>
        <p:txBody>
          <a:bodyPr wrap="square" lIns="0" tIns="0" rIns="0" bIns="0" rtlCol="0" anchor="ctr"/>
          <a:lstStyle/>
          <a:p>
            <a:pPr algn="ctr" indent="0" marL="0">
              <a:buNone/>
            </a:pPr>
            <a:r>
              <a:rPr lang="en-US" sz="1000" b="1" dirty="0">
                <a:solidFill>
                  <a:schemeClr val="accent5"/>
                </a:solidFill>
              </a:rPr>
              <a:t>중요도 보통</a:t>
            </a:r>
            <a:endParaRPr lang="en-US" sz="1000" dirty="0"/>
          </a:p>
        </p:txBody>
      </p:sp>
      <p:sp>
        <p:nvSpPr>
          <p:cNvPr id="24" name="pg out list"/>
          <p:cNvSpPr txBox="1"/>
          <p:nvPr/>
        </p:nvSpPr>
        <p:spPr>
          <a:xfrm>
            <a:off x="6400800" y="2560320"/>
            <a:ext cx="2194560" cy="9144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chemeClr val="tx2"/>
                </a:solidFill>
              </a:rPr>
              <a:t>코드 줄에 중요도 색 표시</a:t>
            </a:r>
            <a:endParaRPr lang="en-US" sz="1050" dirty="0"/>
          </a:p>
          <a:p>
            <a:pPr marL="342900" indent="-342900">
              <a:spcAft>
                <a:spcPts val="400"/>
              </a:spcAft>
              <a:buSzPct val="100000"/>
              <a:buChar char="•"/>
            </a:pPr>
            <a:r>
              <a:rPr lang="en-US" sz="1050" dirty="0">
                <a:solidFill>
                  <a:schemeClr val="tx2"/>
                </a:solidFill>
              </a:rPr>
              <a:t>parameter별 쉬운 설명</a:t>
            </a:r>
            <a:endParaRPr lang="en-US" sz="1050" dirty="0"/>
          </a:p>
          <a:p>
            <a:pPr marL="342900" indent="-342900">
              <a:spcAft>
                <a:spcPts val="400"/>
              </a:spcAft>
              <a:buSzPct val="100000"/>
              <a:buChar char="•"/>
            </a:pPr>
            <a:r>
              <a:rPr lang="en-US" sz="1050" dirty="0">
                <a:solidFill>
                  <a:schemeClr val="tx2"/>
                </a:solidFill>
              </a:rPr>
              <a:t>추천 후보값 + 언제 쓰는지</a:t>
            </a:r>
            <a:endParaRPr lang="en-US" sz="1050" dirty="0"/>
          </a:p>
        </p:txBody>
      </p:sp>
      <p:sp>
        <p:nvSpPr>
          <p:cNvPr id="25" name="pg note"/>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050" dirty="0">
                <a:solidFill>
                  <a:schemeClr val="accent6"/>
                </a:solidFill>
              </a:rPr>
              <a:t>중요도 기준: 어떤 세포·유전자를 남기는지, 어떻게 묶이는지에 영향 = 높음</a:t>
            </a:r>
            <a:endParaRPr lang="en-US" sz="105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AI 호출은 한 곳에서: llm.py</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AI를 어떻게 부르는지가 한 파일에 모여 있어서 바꾸기 쉽습니다</a:t>
            </a:r>
            <a:endParaRPr lang="en-US" sz="1250" dirty="0"/>
          </a:p>
        </p:txBody>
      </p:sp>
      <p:sp>
        <p:nvSpPr>
          <p:cNvPr id="4" name="llm hub"/>
          <p:cNvSpPr/>
          <p:nvPr/>
        </p:nvSpPr>
        <p:spPr>
          <a:xfrm>
            <a:off x="457200" y="1463040"/>
            <a:ext cx="2377440" cy="2468880"/>
          </a:xfrm>
          <a:prstGeom prst="roundRect">
            <a:avLst>
              <a:gd name="adj" fmla="val 4615"/>
            </a:avLst>
          </a:prstGeom>
          <a:solidFill>
            <a:schemeClr val="tx1">
              <a:alpha val="6000"/>
            </a:schemeClr>
          </a:solidFill>
          <a:ln w="12700">
            <a:solidFill>
              <a:schemeClr val="tx1">
                <a:alpha val="30000"/>
              </a:schemeClr>
            </a:solidFill>
            <a:prstDash val="solid"/>
          </a:ln>
        </p:spPr>
      </p:sp>
      <p:sp>
        <p:nvSpPr>
          <p:cNvPr id="5" name="llm name"/>
          <p:cNvSpPr txBox="1"/>
          <p:nvPr/>
        </p:nvSpPr>
        <p:spPr>
          <a:xfrm>
            <a:off x="731520" y="1645920"/>
            <a:ext cx="1828800" cy="365760"/>
          </a:xfrm>
          <a:prstGeom prst="rect">
            <a:avLst/>
          </a:prstGeom>
          <a:noFill/>
          <a:ln/>
        </p:spPr>
        <p:txBody>
          <a:bodyPr wrap="square" lIns="0" tIns="0" rIns="0" bIns="0" rtlCol="0" anchor="t"/>
          <a:lstStyle/>
          <a:p>
            <a:pPr indent="0" marL="0">
              <a:buNone/>
            </a:pPr>
            <a:r>
              <a:rPr lang="en-US" sz="1800" b="1" dirty="0">
                <a:solidFill>
                  <a:schemeClr val="tx1"/>
                </a:solidFill>
                <a:latin typeface="Courier New" pitchFamily="34" charset="0"/>
                <a:ea typeface="Courier New" pitchFamily="34" charset="-122"/>
                <a:cs typeface="Courier New" pitchFamily="34" charset="-120"/>
              </a:rPr>
              <a:t>llm.py</a:t>
            </a:r>
            <a:endParaRPr lang="en-US" sz="1800" dirty="0"/>
          </a:p>
        </p:txBody>
      </p:sp>
      <p:sp>
        <p:nvSpPr>
          <p:cNvPr id="6" name="llm fn"/>
          <p:cNvSpPr txBox="1"/>
          <p:nvPr/>
        </p:nvSpPr>
        <p:spPr>
          <a:xfrm>
            <a:off x="731520" y="2057400"/>
            <a:ext cx="2011680" cy="274320"/>
          </a:xfrm>
          <a:prstGeom prst="rect">
            <a:avLst/>
          </a:prstGeom>
          <a:noFill/>
          <a:ln/>
        </p:spPr>
        <p:txBody>
          <a:bodyPr wrap="square" lIns="0" tIns="0" rIns="0" bIns="0" rtlCol="0" anchor="t"/>
          <a:lstStyle/>
          <a:p>
            <a:pPr indent="0" marL="0">
              <a:buNone/>
            </a:pPr>
            <a:r>
              <a:rPr lang="en-US" sz="1100" dirty="0">
                <a:solidFill>
                  <a:schemeClr val="accent6"/>
                </a:solidFill>
                <a:latin typeface="Courier New" pitchFamily="34" charset="0"/>
                <a:ea typeface="Courier New" pitchFamily="34" charset="-122"/>
                <a:cs typeface="Courier New" pitchFamily="34" charset="-120"/>
              </a:rPr>
              <a:t>structured_call()</a:t>
            </a:r>
            <a:endParaRPr lang="en-US" sz="1100" dirty="0"/>
          </a:p>
        </p:txBody>
      </p:sp>
      <p:sp>
        <p:nvSpPr>
          <p:cNvPr id="7" name="llm claude"/>
          <p:cNvSpPr/>
          <p:nvPr/>
        </p:nvSpPr>
        <p:spPr>
          <a:xfrm>
            <a:off x="731520" y="2560320"/>
            <a:ext cx="868680" cy="256032"/>
          </a:xfrm>
          <a:prstGeom prst="roundRect">
            <a:avLst>
              <a:gd name="adj" fmla="val 50000"/>
            </a:avLst>
          </a:prstGeom>
          <a:solidFill>
            <a:schemeClr val="accent2">
              <a:alpha val="15000"/>
            </a:schemeClr>
          </a:solidFill>
          <a:ln w="9525">
            <a:solidFill>
              <a:schemeClr val="accent2">
                <a:alpha val="30000"/>
              </a:schemeClr>
            </a:solidFill>
            <a:prstDash val="solid"/>
          </a:ln>
        </p:spPr>
      </p:sp>
      <p:sp>
        <p:nvSpPr>
          <p:cNvPr id="8" name="Text 6"/>
          <p:cNvSpPr txBox="1"/>
          <p:nvPr/>
        </p:nvSpPr>
        <p:spPr>
          <a:xfrm>
            <a:off x="731520" y="2560320"/>
            <a:ext cx="868680" cy="256032"/>
          </a:xfrm>
          <a:prstGeom prst="rect">
            <a:avLst/>
          </a:prstGeom>
          <a:noFill/>
          <a:ln/>
        </p:spPr>
        <p:txBody>
          <a:bodyPr wrap="square" lIns="0" tIns="0" rIns="0" bIns="0" rtlCol="0" anchor="ctr"/>
          <a:lstStyle/>
          <a:p>
            <a:pPr algn="ctr" indent="0" marL="0">
              <a:buNone/>
            </a:pPr>
            <a:r>
              <a:rPr lang="en-US" sz="1000" b="1" dirty="0">
                <a:solidFill>
                  <a:schemeClr val="accent2"/>
                </a:solidFill>
              </a:rPr>
              <a:t>Claude</a:t>
            </a:r>
            <a:endParaRPr lang="en-US" sz="1000" dirty="0"/>
          </a:p>
        </p:txBody>
      </p:sp>
      <p:sp>
        <p:nvSpPr>
          <p:cNvPr id="9" name="llm gpt"/>
          <p:cNvSpPr/>
          <p:nvPr/>
        </p:nvSpPr>
        <p:spPr>
          <a:xfrm>
            <a:off x="1691640" y="2560320"/>
            <a:ext cx="868680" cy="256032"/>
          </a:xfrm>
          <a:prstGeom prst="roundRect">
            <a:avLst>
              <a:gd name="adj" fmla="val 50000"/>
            </a:avLst>
          </a:prstGeom>
          <a:solidFill>
            <a:schemeClr val="accent3">
              <a:alpha val="15000"/>
            </a:schemeClr>
          </a:solidFill>
          <a:ln w="9525">
            <a:solidFill>
              <a:schemeClr val="accent3">
                <a:alpha val="30000"/>
              </a:schemeClr>
            </a:solidFill>
            <a:prstDash val="solid"/>
          </a:ln>
        </p:spPr>
      </p:sp>
      <p:sp>
        <p:nvSpPr>
          <p:cNvPr id="10" name="Text 8"/>
          <p:cNvSpPr txBox="1"/>
          <p:nvPr/>
        </p:nvSpPr>
        <p:spPr>
          <a:xfrm>
            <a:off x="1691640" y="2560320"/>
            <a:ext cx="868680" cy="256032"/>
          </a:xfrm>
          <a:prstGeom prst="rect">
            <a:avLst/>
          </a:prstGeom>
          <a:noFill/>
          <a:ln/>
        </p:spPr>
        <p:txBody>
          <a:bodyPr wrap="square" lIns="0" tIns="0" rIns="0" bIns="0" rtlCol="0" anchor="ctr"/>
          <a:lstStyle/>
          <a:p>
            <a:pPr algn="ctr" indent="0" marL="0">
              <a:buNone/>
            </a:pPr>
            <a:r>
              <a:rPr lang="en-US" sz="1000" b="1" dirty="0">
                <a:solidFill>
                  <a:schemeClr val="accent3"/>
                </a:solidFill>
              </a:rPr>
              <a:t>GPT</a:t>
            </a:r>
            <a:endParaRPr lang="en-US" sz="1000" dirty="0"/>
          </a:p>
        </p:txBody>
      </p:sp>
      <p:sp>
        <p:nvSpPr>
          <p:cNvPr id="11" name="llm auto"/>
          <p:cNvSpPr txBox="1"/>
          <p:nvPr/>
        </p:nvSpPr>
        <p:spPr>
          <a:xfrm>
            <a:off x="731520" y="3017520"/>
            <a:ext cx="2011680" cy="640080"/>
          </a:xfrm>
          <a:prstGeom prst="rect">
            <a:avLst/>
          </a:prstGeom>
          <a:noFill/>
          <a:ln/>
        </p:spPr>
        <p:txBody>
          <a:bodyPr wrap="square" lIns="0" tIns="0" rIns="0" bIns="0" rtlCol="0" anchor="t"/>
          <a:lstStyle/>
          <a:p>
            <a:pPr indent="0" marL="0">
              <a:buNone/>
            </a:pPr>
            <a:r>
              <a:rPr lang="en-US" sz="1000" dirty="0">
                <a:solidFill>
                  <a:schemeClr val="tx2"/>
                </a:solidFill>
              </a:rPr>
              <a:t>키가 있는 쪽을 자동 선택</a:t>
            </a:r>
            <a:endParaRPr lang="en-US" sz="1000" dirty="0"/>
          </a:p>
          <a:p>
            <a:pPr indent="0" marL="0">
              <a:buNone/>
            </a:pPr>
            <a:r>
              <a:rPr lang="en-US" sz="1000" dirty="0">
                <a:solidFill>
                  <a:schemeClr val="tx2"/>
                </a:solidFill>
              </a:rPr>
              <a:t>둘 다 있으면 화면에서 고름</a:t>
            </a:r>
            <a:endParaRPr lang="en-US" sz="1000" dirty="0"/>
          </a:p>
        </p:txBody>
      </p:sp>
      <p:sp>
        <p:nvSpPr>
          <p:cNvPr id="12" name="princ num 1"/>
          <p:cNvSpPr txBox="1"/>
          <p:nvPr/>
        </p:nvSpPr>
        <p:spPr>
          <a:xfrm>
            <a:off x="3246120" y="1463040"/>
            <a:ext cx="365760" cy="365760"/>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13" name="princ title 1"/>
          <p:cNvSpPr txBox="1"/>
          <p:nvPr/>
        </p:nvSpPr>
        <p:spPr>
          <a:xfrm>
            <a:off x="3657600" y="1463040"/>
            <a:ext cx="4937760" cy="292608"/>
          </a:xfrm>
          <a:prstGeom prst="rect">
            <a:avLst/>
          </a:prstGeom>
          <a:noFill/>
          <a:ln/>
        </p:spPr>
        <p:txBody>
          <a:bodyPr wrap="square" lIns="0" tIns="0" rIns="0" bIns="0" rtlCol="0" anchor="t"/>
          <a:lstStyle/>
          <a:p>
            <a:pPr indent="0" marL="0">
              <a:buNone/>
            </a:pPr>
            <a:r>
              <a:rPr lang="en-US" sz="1350" b="1" dirty="0">
                <a:solidFill>
                  <a:schemeClr val="tx1"/>
                </a:solidFill>
              </a:rPr>
              <a:t>구조화된 출력</a:t>
            </a:r>
            <a:endParaRPr lang="en-US" sz="1350" dirty="0"/>
          </a:p>
        </p:txBody>
      </p:sp>
      <p:sp>
        <p:nvSpPr>
          <p:cNvPr id="14" name="princ text 1"/>
          <p:cNvSpPr txBox="1"/>
          <p:nvPr/>
        </p:nvSpPr>
        <p:spPr>
          <a:xfrm>
            <a:off x="3657600" y="1773936"/>
            <a:ext cx="4937760" cy="502920"/>
          </a:xfrm>
          <a:prstGeom prst="rect">
            <a:avLst/>
          </a:prstGeom>
          <a:noFill/>
          <a:ln/>
        </p:spPr>
        <p:txBody>
          <a:bodyPr wrap="square" lIns="0" tIns="0" rIns="0" bIns="0" rtlCol="0" anchor="t"/>
          <a:lstStyle/>
          <a:p>
            <a:pPr indent="0" marL="0">
              <a:buNone/>
            </a:pPr>
            <a:r>
              <a:rPr lang="en-US" sz="1050" dirty="0">
                <a:solidFill>
                  <a:schemeClr val="tx2"/>
                </a:solidFill>
              </a:rPr>
              <a:t>AI가 자유 문장 대신 정해진 양식(Pydantic 스키마)으로 답하게 해서, 화면에 표·배지로 항상 안정적으로 표시됩니다.</a:t>
            </a:r>
            <a:endParaRPr lang="en-US" sz="1050" dirty="0"/>
          </a:p>
        </p:txBody>
      </p:sp>
      <p:sp>
        <p:nvSpPr>
          <p:cNvPr id="15" name="princ num 2"/>
          <p:cNvSpPr txBox="1"/>
          <p:nvPr/>
        </p:nvSpPr>
        <p:spPr>
          <a:xfrm>
            <a:off x="3246120" y="2313432"/>
            <a:ext cx="365760" cy="365760"/>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16" name="princ title 2"/>
          <p:cNvSpPr txBox="1"/>
          <p:nvPr/>
        </p:nvSpPr>
        <p:spPr>
          <a:xfrm>
            <a:off x="3657600" y="2313432"/>
            <a:ext cx="4937760" cy="292608"/>
          </a:xfrm>
          <a:prstGeom prst="rect">
            <a:avLst/>
          </a:prstGeom>
          <a:noFill/>
          <a:ln/>
        </p:spPr>
        <p:txBody>
          <a:bodyPr wrap="square" lIns="0" tIns="0" rIns="0" bIns="0" rtlCol="0" anchor="t"/>
          <a:lstStyle/>
          <a:p>
            <a:pPr indent="0" marL="0">
              <a:buNone/>
            </a:pPr>
            <a:r>
              <a:rPr lang="en-US" sz="1350" b="1" dirty="0">
                <a:solidFill>
                  <a:schemeClr val="tx1"/>
                </a:solidFill>
              </a:rPr>
              <a:t>교체가 쉬움</a:t>
            </a:r>
            <a:endParaRPr lang="en-US" sz="1350" dirty="0"/>
          </a:p>
        </p:txBody>
      </p:sp>
      <p:sp>
        <p:nvSpPr>
          <p:cNvPr id="17" name="princ text 2"/>
          <p:cNvSpPr txBox="1"/>
          <p:nvPr/>
        </p:nvSpPr>
        <p:spPr>
          <a:xfrm>
            <a:off x="3657600" y="2624328"/>
            <a:ext cx="4937760" cy="502920"/>
          </a:xfrm>
          <a:prstGeom prst="rect">
            <a:avLst/>
          </a:prstGeom>
          <a:noFill/>
          <a:ln/>
        </p:spPr>
        <p:txBody>
          <a:bodyPr wrap="square" lIns="0" tIns="0" rIns="0" bIns="0" rtlCol="0" anchor="t"/>
          <a:lstStyle/>
          <a:p>
            <a:pPr indent="0" marL="0">
              <a:buNone/>
            </a:pPr>
            <a:r>
              <a:rPr lang="en-US" sz="1050" dirty="0">
                <a:solidFill>
                  <a:schemeClr val="tx2"/>
                </a:solidFill>
              </a:rPr>
              <a:t>GPT를 추가할 때도 이 파일만 고쳤습니다. 나중에 사내 AI 모델로 바꿀 때도 마찬가지입니다.</a:t>
            </a:r>
            <a:endParaRPr lang="en-US" sz="1050" dirty="0"/>
          </a:p>
        </p:txBody>
      </p:sp>
      <p:sp>
        <p:nvSpPr>
          <p:cNvPr id="18" name="princ num 3"/>
          <p:cNvSpPr txBox="1"/>
          <p:nvPr/>
        </p:nvSpPr>
        <p:spPr>
          <a:xfrm>
            <a:off x="3246120" y="3163824"/>
            <a:ext cx="365760" cy="365760"/>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9" name="princ title 3"/>
          <p:cNvSpPr txBox="1"/>
          <p:nvPr/>
        </p:nvSpPr>
        <p:spPr>
          <a:xfrm>
            <a:off x="3657600" y="3163824"/>
            <a:ext cx="4937760" cy="292608"/>
          </a:xfrm>
          <a:prstGeom prst="rect">
            <a:avLst/>
          </a:prstGeom>
          <a:noFill/>
          <a:ln/>
        </p:spPr>
        <p:txBody>
          <a:bodyPr wrap="square" lIns="0" tIns="0" rIns="0" bIns="0" rtlCol="0" anchor="t"/>
          <a:lstStyle/>
          <a:p>
            <a:pPr indent="0" marL="0">
              <a:buNone/>
            </a:pPr>
            <a:r>
              <a:rPr lang="en-US" sz="1350" b="1" dirty="0">
                <a:solidFill>
                  <a:schemeClr val="tx1"/>
                </a:solidFill>
              </a:rPr>
              <a:t>친절한 에러</a:t>
            </a:r>
            <a:endParaRPr lang="en-US" sz="1350" dirty="0"/>
          </a:p>
        </p:txBody>
      </p:sp>
      <p:sp>
        <p:nvSpPr>
          <p:cNvPr id="20" name="princ text 3"/>
          <p:cNvSpPr txBox="1"/>
          <p:nvPr/>
        </p:nvSpPr>
        <p:spPr>
          <a:xfrm>
            <a:off x="3657600" y="3474720"/>
            <a:ext cx="4937760" cy="502920"/>
          </a:xfrm>
          <a:prstGeom prst="rect">
            <a:avLst/>
          </a:prstGeom>
          <a:noFill/>
          <a:ln/>
        </p:spPr>
        <p:txBody>
          <a:bodyPr wrap="square" lIns="0" tIns="0" rIns="0" bIns="0" rtlCol="0" anchor="t"/>
          <a:lstStyle/>
          <a:p>
            <a:pPr indent="0" marL="0">
              <a:buNone/>
            </a:pPr>
            <a:r>
              <a:rPr lang="en-US" sz="1050" dirty="0">
                <a:solidFill>
                  <a:schemeClr val="tx2"/>
                </a:solidFill>
              </a:rPr>
              <a:t>키 오류, 크레딧 부족, 응답 잘림 등을 한국어 안내 문구로 바꿔서 보여줍니다.</a:t>
            </a:r>
            <a:endParaRPr lang="en-US" sz="105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지식 베이스: 코드 수정 없이 똑똑해지기</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팀의 노하우를 YAML 파일에 적으면 AI가 그걸 참고합니다</a:t>
            </a:r>
            <a:endParaRPr lang="en-US" sz="1250" dirty="0"/>
          </a:p>
        </p:txBody>
      </p:sp>
      <p:sp>
        <p:nvSpPr>
          <p:cNvPr id="4" name="kb card 1"/>
          <p:cNvSpPr/>
          <p:nvPr/>
        </p:nvSpPr>
        <p:spPr>
          <a:xfrm>
            <a:off x="457200" y="1417320"/>
            <a:ext cx="2606040" cy="2423160"/>
          </a:xfrm>
          <a:prstGeom prst="roundRect">
            <a:avLst>
              <a:gd name="adj" fmla="val 4528"/>
            </a:avLst>
          </a:prstGeom>
          <a:solidFill>
            <a:schemeClr val="accent5">
              <a:alpha val="10000"/>
            </a:schemeClr>
          </a:solidFill>
          <a:ln w="12700">
            <a:solidFill>
              <a:schemeClr val="accent5">
                <a:alpha val="25000"/>
              </a:schemeClr>
            </a:solidFill>
            <a:prstDash val="solid"/>
          </a:ln>
        </p:spPr>
      </p:sp>
      <p:pic>
        <p:nvPicPr>
          <p:cNvPr id="5" name="kb icon 1" descr="preencoded.png">    </p:cNvPr>
          <p:cNvPicPr>
            <a:picLocks noChangeAspect="1"/>
          </p:cNvPicPr>
          <p:nvPr/>
        </p:nvPicPr>
        <p:blipFill>
          <a:blip r:embed="rId1"/>
          <a:stretch>
            <a:fillRect/>
          </a:stretch>
        </p:blipFill>
        <p:spPr>
          <a:xfrm>
            <a:off x="731520" y="1673352"/>
            <a:ext cx="384048" cy="384048"/>
          </a:xfrm>
          <a:prstGeom prst="rect">
            <a:avLst/>
          </a:prstGeom>
        </p:spPr>
      </p:pic>
      <p:sp>
        <p:nvSpPr>
          <p:cNvPr id="6" name="kb title 1"/>
          <p:cNvSpPr txBox="1"/>
          <p:nvPr/>
        </p:nvSpPr>
        <p:spPr>
          <a:xfrm>
            <a:off x="731520" y="2194560"/>
            <a:ext cx="2057400" cy="320040"/>
          </a:xfrm>
          <a:prstGeom prst="rect">
            <a:avLst/>
          </a:prstGeom>
          <a:noFill/>
          <a:ln/>
        </p:spPr>
        <p:txBody>
          <a:bodyPr wrap="square" lIns="0" tIns="0" rIns="0" bIns="0" rtlCol="0" anchor="t"/>
          <a:lstStyle/>
          <a:p>
            <a:pPr indent="0" marL="0">
              <a:buNone/>
            </a:pPr>
            <a:r>
              <a:rPr lang="en-US" sz="1450" b="1" dirty="0">
                <a:solidFill>
                  <a:schemeClr val="tx1"/>
                </a:solidFill>
              </a:rPr>
              <a:t>R ↔ Python 대응표</a:t>
            </a:r>
            <a:endParaRPr lang="en-US" sz="1450" dirty="0"/>
          </a:p>
        </p:txBody>
      </p:sp>
      <p:sp>
        <p:nvSpPr>
          <p:cNvPr id="7" name="kb file 1"/>
          <p:cNvSpPr txBox="1"/>
          <p:nvPr/>
        </p:nvSpPr>
        <p:spPr>
          <a:xfrm>
            <a:off x="731520" y="2514600"/>
            <a:ext cx="2057400" cy="256032"/>
          </a:xfrm>
          <a:prstGeom prst="rect">
            <a:avLst/>
          </a:prstGeom>
          <a:noFill/>
          <a:ln/>
        </p:spPr>
        <p:txBody>
          <a:bodyPr wrap="square" lIns="0" tIns="0" rIns="0" bIns="0" rtlCol="0" anchor="t"/>
          <a:lstStyle/>
          <a:p>
            <a:pPr indent="0" marL="0">
              <a:buNone/>
            </a:pPr>
            <a:r>
              <a:rPr lang="en-US" sz="950" dirty="0">
                <a:solidFill>
                  <a:schemeClr val="accent6"/>
                </a:solidFill>
                <a:latin typeface="Courier New" pitchFamily="34" charset="0"/>
                <a:ea typeface="Courier New" pitchFamily="34" charset="-122"/>
                <a:cs typeface="Courier New" pitchFamily="34" charset="-120"/>
              </a:rPr>
              <a:t>package_map.yaml</a:t>
            </a:r>
            <a:endParaRPr lang="en-US" sz="950" dirty="0"/>
          </a:p>
        </p:txBody>
      </p:sp>
      <p:sp>
        <p:nvSpPr>
          <p:cNvPr id="8" name="kb text 1"/>
          <p:cNvSpPr txBox="1"/>
          <p:nvPr/>
        </p:nvSpPr>
        <p:spPr>
          <a:xfrm>
            <a:off x="731520" y="2834640"/>
            <a:ext cx="2057400" cy="548640"/>
          </a:xfrm>
          <a:prstGeom prst="rect">
            <a:avLst/>
          </a:prstGeom>
          <a:noFill/>
          <a:ln/>
        </p:spPr>
        <p:txBody>
          <a:bodyPr wrap="square" lIns="0" tIns="0" rIns="0" bIns="0" rtlCol="0" anchor="t"/>
          <a:lstStyle/>
          <a:p>
            <a:pPr indent="0" marL="0">
              <a:buNone/>
            </a:pPr>
            <a:r>
              <a:rPr lang="en-US" sz="1050" dirty="0">
                <a:solidFill>
                  <a:schemeClr val="tx2"/>
                </a:solidFill>
              </a:rPr>
              <a:t>Seurat ↔ scanpy</a:t>
            </a:r>
            <a:endParaRPr lang="en-US" sz="1050" dirty="0"/>
          </a:p>
          <a:p>
            <a:pPr indent="0" marL="0">
              <a:buNone/>
            </a:pPr>
            <a:r>
              <a:rPr lang="en-US" sz="1050" dirty="0">
                <a:solidFill>
                  <a:schemeClr val="tx2"/>
                </a:solidFill>
              </a:rPr>
              <a:t>DESeq2 ↔ pydeseq2</a:t>
            </a:r>
            <a:endParaRPr lang="en-US" sz="1050" dirty="0"/>
          </a:p>
          <a:p>
            <a:pPr indent="0" marL="0">
              <a:buNone/>
            </a:pPr>
            <a:r>
              <a:rPr lang="en-US" sz="1050" dirty="0">
                <a:solidFill>
                  <a:schemeClr val="tx2"/>
                </a:solidFill>
              </a:rPr>
              <a:t>+ 주의사항</a:t>
            </a:r>
            <a:endParaRPr lang="en-US" sz="1050" dirty="0"/>
          </a:p>
        </p:txBody>
      </p:sp>
      <p:sp>
        <p:nvSpPr>
          <p:cNvPr id="9" name="kb tag 1"/>
          <p:cNvSpPr/>
          <p:nvPr/>
        </p:nvSpPr>
        <p:spPr>
          <a:xfrm>
            <a:off x="731520" y="3429000"/>
            <a:ext cx="914400" cy="256032"/>
          </a:xfrm>
          <a:prstGeom prst="roundRect">
            <a:avLst>
              <a:gd name="adj" fmla="val 50000"/>
            </a:avLst>
          </a:prstGeom>
          <a:solidFill>
            <a:schemeClr val="accent5">
              <a:alpha val="15000"/>
            </a:schemeClr>
          </a:solidFill>
          <a:ln w="9525">
            <a:solidFill>
              <a:schemeClr val="accent5">
                <a:alpha val="30000"/>
              </a:schemeClr>
            </a:solidFill>
            <a:prstDash val="solid"/>
          </a:ln>
        </p:spPr>
      </p:sp>
      <p:sp>
        <p:nvSpPr>
          <p:cNvPr id="10" name="Text 7"/>
          <p:cNvSpPr txBox="1"/>
          <p:nvPr/>
        </p:nvSpPr>
        <p:spPr>
          <a:xfrm>
            <a:off x="731520" y="3429000"/>
            <a:ext cx="914400" cy="256032"/>
          </a:xfrm>
          <a:prstGeom prst="rect">
            <a:avLst/>
          </a:prstGeom>
          <a:noFill/>
          <a:ln/>
        </p:spPr>
        <p:txBody>
          <a:bodyPr wrap="square" lIns="0" tIns="0" rIns="0" bIns="0" rtlCol="0" anchor="ctr"/>
          <a:lstStyle/>
          <a:p>
            <a:pPr algn="ctr" indent="0" marL="0">
              <a:buNone/>
            </a:pPr>
            <a:r>
              <a:rPr lang="en-US" sz="1000" b="1" dirty="0">
                <a:solidFill>
                  <a:schemeClr val="accent5"/>
                </a:solidFill>
              </a:rPr>
              <a:t>→ ① 변환</a:t>
            </a:r>
            <a:endParaRPr lang="en-US" sz="1000" dirty="0"/>
          </a:p>
        </p:txBody>
      </p:sp>
      <p:sp>
        <p:nvSpPr>
          <p:cNvPr id="11" name="kb card 2"/>
          <p:cNvSpPr/>
          <p:nvPr/>
        </p:nvSpPr>
        <p:spPr>
          <a:xfrm>
            <a:off x="3246120" y="1417320"/>
            <a:ext cx="2606040" cy="2423160"/>
          </a:xfrm>
          <a:prstGeom prst="roundRect">
            <a:avLst>
              <a:gd name="adj" fmla="val 4528"/>
            </a:avLst>
          </a:prstGeom>
          <a:solidFill>
            <a:schemeClr val="accent2">
              <a:alpha val="10000"/>
            </a:schemeClr>
          </a:solidFill>
          <a:ln w="12700">
            <a:solidFill>
              <a:schemeClr val="accent2">
                <a:alpha val="25000"/>
              </a:schemeClr>
            </a:solidFill>
            <a:prstDash val="solid"/>
          </a:ln>
        </p:spPr>
      </p:sp>
      <p:pic>
        <p:nvPicPr>
          <p:cNvPr id="12" name="kb icon 2" descr="preencoded.png">    </p:cNvPr>
          <p:cNvPicPr>
            <a:picLocks noChangeAspect="1"/>
          </p:cNvPicPr>
          <p:nvPr/>
        </p:nvPicPr>
        <p:blipFill>
          <a:blip r:embed="rId2"/>
          <a:stretch>
            <a:fillRect/>
          </a:stretch>
        </p:blipFill>
        <p:spPr>
          <a:xfrm>
            <a:off x="3520440" y="1673352"/>
            <a:ext cx="384048" cy="384048"/>
          </a:xfrm>
          <a:prstGeom prst="rect">
            <a:avLst/>
          </a:prstGeom>
        </p:spPr>
      </p:pic>
      <p:sp>
        <p:nvSpPr>
          <p:cNvPr id="13" name="kb title 2"/>
          <p:cNvSpPr txBox="1"/>
          <p:nvPr/>
        </p:nvSpPr>
        <p:spPr>
          <a:xfrm>
            <a:off x="3520440" y="2194560"/>
            <a:ext cx="2057400" cy="320040"/>
          </a:xfrm>
          <a:prstGeom prst="rect">
            <a:avLst/>
          </a:prstGeom>
          <a:noFill/>
          <a:ln/>
        </p:spPr>
        <p:txBody>
          <a:bodyPr wrap="square" lIns="0" tIns="0" rIns="0" bIns="0" rtlCol="0" anchor="t"/>
          <a:lstStyle/>
          <a:p>
            <a:pPr indent="0" marL="0">
              <a:buNone/>
            </a:pPr>
            <a:r>
              <a:rPr lang="en-US" sz="1450" b="1" dirty="0">
                <a:solidFill>
                  <a:schemeClr val="tx1"/>
                </a:solidFill>
              </a:rPr>
              <a:t>표준 분석 단계</a:t>
            </a:r>
            <a:endParaRPr lang="en-US" sz="1450" dirty="0"/>
          </a:p>
        </p:txBody>
      </p:sp>
      <p:sp>
        <p:nvSpPr>
          <p:cNvPr id="14" name="kb file 2"/>
          <p:cNvSpPr txBox="1"/>
          <p:nvPr/>
        </p:nvSpPr>
        <p:spPr>
          <a:xfrm>
            <a:off x="3520440" y="2514600"/>
            <a:ext cx="2057400" cy="256032"/>
          </a:xfrm>
          <a:prstGeom prst="rect">
            <a:avLst/>
          </a:prstGeom>
          <a:noFill/>
          <a:ln/>
        </p:spPr>
        <p:txBody>
          <a:bodyPr wrap="square" lIns="0" tIns="0" rIns="0" bIns="0" rtlCol="0" anchor="t"/>
          <a:lstStyle/>
          <a:p>
            <a:pPr indent="0" marL="0">
              <a:buNone/>
            </a:pPr>
            <a:r>
              <a:rPr lang="en-US" sz="950" dirty="0">
                <a:solidFill>
                  <a:schemeClr val="accent6"/>
                </a:solidFill>
                <a:latin typeface="Courier New" pitchFamily="34" charset="0"/>
                <a:ea typeface="Courier New" pitchFamily="34" charset="-122"/>
                <a:cs typeface="Courier New" pitchFamily="34" charset="-120"/>
              </a:rPr>
              <a:t>canonical_steps.yaml</a:t>
            </a:r>
            <a:endParaRPr lang="en-US" sz="950" dirty="0"/>
          </a:p>
        </p:txBody>
      </p:sp>
      <p:sp>
        <p:nvSpPr>
          <p:cNvPr id="15" name="kb text 2"/>
          <p:cNvSpPr txBox="1"/>
          <p:nvPr/>
        </p:nvSpPr>
        <p:spPr>
          <a:xfrm>
            <a:off x="3520440" y="2834640"/>
            <a:ext cx="2057400" cy="548640"/>
          </a:xfrm>
          <a:prstGeom prst="rect">
            <a:avLst/>
          </a:prstGeom>
          <a:noFill/>
          <a:ln/>
        </p:spPr>
        <p:txBody>
          <a:bodyPr wrap="square" lIns="0" tIns="0" rIns="0" bIns="0" rtlCol="0" anchor="t"/>
          <a:lstStyle/>
          <a:p>
            <a:pPr indent="0" marL="0">
              <a:buNone/>
            </a:pPr>
            <a:r>
              <a:rPr lang="en-US" sz="1050" dirty="0">
                <a:solidFill>
                  <a:schemeClr val="tx2"/>
                </a:solidFill>
              </a:rPr>
              <a:t>scRNA-seq 16단계</a:t>
            </a:r>
            <a:endParaRPr lang="en-US" sz="1050" dirty="0"/>
          </a:p>
          <a:p>
            <a:pPr indent="0" marL="0">
              <a:buNone/>
            </a:pPr>
            <a:r>
              <a:rPr lang="en-US" sz="1050" dirty="0">
                <a:solidFill>
                  <a:schemeClr val="tx2"/>
                </a:solidFill>
              </a:rPr>
              <a:t>bulk RNA-seq 12단계</a:t>
            </a:r>
            <a:endParaRPr lang="en-US" sz="1050" dirty="0"/>
          </a:p>
        </p:txBody>
      </p:sp>
      <p:sp>
        <p:nvSpPr>
          <p:cNvPr id="16" name="kb tag 2"/>
          <p:cNvSpPr/>
          <p:nvPr/>
        </p:nvSpPr>
        <p:spPr>
          <a:xfrm>
            <a:off x="3520440" y="3429000"/>
            <a:ext cx="914400" cy="256032"/>
          </a:xfrm>
          <a:prstGeom prst="roundRect">
            <a:avLst>
              <a:gd name="adj" fmla="val 50000"/>
            </a:avLst>
          </a:prstGeom>
          <a:solidFill>
            <a:schemeClr val="accent2">
              <a:alpha val="15000"/>
            </a:schemeClr>
          </a:solidFill>
          <a:ln w="9525">
            <a:solidFill>
              <a:schemeClr val="accent2">
                <a:alpha val="30000"/>
              </a:schemeClr>
            </a:solidFill>
            <a:prstDash val="solid"/>
          </a:ln>
        </p:spPr>
      </p:sp>
      <p:sp>
        <p:nvSpPr>
          <p:cNvPr id="17" name="Text 13"/>
          <p:cNvSpPr txBox="1"/>
          <p:nvPr/>
        </p:nvSpPr>
        <p:spPr>
          <a:xfrm>
            <a:off x="3520440" y="3429000"/>
            <a:ext cx="914400" cy="256032"/>
          </a:xfrm>
          <a:prstGeom prst="rect">
            <a:avLst/>
          </a:prstGeom>
          <a:noFill/>
          <a:ln/>
        </p:spPr>
        <p:txBody>
          <a:bodyPr wrap="square" lIns="0" tIns="0" rIns="0" bIns="0" rtlCol="0" anchor="ctr"/>
          <a:lstStyle/>
          <a:p>
            <a:pPr algn="ctr" indent="0" marL="0">
              <a:buNone/>
            </a:pPr>
            <a:r>
              <a:rPr lang="en-US" sz="1000" b="1" dirty="0">
                <a:solidFill>
                  <a:schemeClr val="accent2"/>
                </a:solidFill>
              </a:rPr>
              <a:t>→ ② 비교</a:t>
            </a:r>
            <a:endParaRPr lang="en-US" sz="1000" dirty="0"/>
          </a:p>
        </p:txBody>
      </p:sp>
      <p:sp>
        <p:nvSpPr>
          <p:cNvPr id="18" name="kb card 3"/>
          <p:cNvSpPr/>
          <p:nvPr/>
        </p:nvSpPr>
        <p:spPr>
          <a:xfrm>
            <a:off x="6035040" y="1417320"/>
            <a:ext cx="2606040" cy="2423160"/>
          </a:xfrm>
          <a:prstGeom prst="roundRect">
            <a:avLst>
              <a:gd name="adj" fmla="val 4528"/>
            </a:avLst>
          </a:prstGeom>
          <a:solidFill>
            <a:schemeClr val="accent3">
              <a:alpha val="10000"/>
            </a:schemeClr>
          </a:solidFill>
          <a:ln w="12700">
            <a:solidFill>
              <a:schemeClr val="accent3">
                <a:alpha val="25000"/>
              </a:schemeClr>
            </a:solidFill>
            <a:prstDash val="solid"/>
          </a:ln>
        </p:spPr>
      </p:sp>
      <p:pic>
        <p:nvPicPr>
          <p:cNvPr id="19" name="kb icon 3" descr="preencoded.png">    </p:cNvPr>
          <p:cNvPicPr>
            <a:picLocks noChangeAspect="1"/>
          </p:cNvPicPr>
          <p:nvPr/>
        </p:nvPicPr>
        <p:blipFill>
          <a:blip r:embed="rId3"/>
          <a:stretch>
            <a:fillRect/>
          </a:stretch>
        </p:blipFill>
        <p:spPr>
          <a:xfrm>
            <a:off x="6309360" y="1673352"/>
            <a:ext cx="384048" cy="384048"/>
          </a:xfrm>
          <a:prstGeom prst="rect">
            <a:avLst/>
          </a:prstGeom>
        </p:spPr>
      </p:pic>
      <p:sp>
        <p:nvSpPr>
          <p:cNvPr id="20" name="kb title 3"/>
          <p:cNvSpPr txBox="1"/>
          <p:nvPr/>
        </p:nvSpPr>
        <p:spPr>
          <a:xfrm>
            <a:off x="6309360" y="2194560"/>
            <a:ext cx="2057400" cy="320040"/>
          </a:xfrm>
          <a:prstGeom prst="rect">
            <a:avLst/>
          </a:prstGeom>
          <a:noFill/>
          <a:ln/>
        </p:spPr>
        <p:txBody>
          <a:bodyPr wrap="square" lIns="0" tIns="0" rIns="0" bIns="0" rtlCol="0" anchor="t"/>
          <a:lstStyle/>
          <a:p>
            <a:pPr indent="0" marL="0">
              <a:buNone/>
            </a:pPr>
            <a:r>
              <a:rPr lang="en-US" sz="1450" b="1" dirty="0">
                <a:solidFill>
                  <a:schemeClr val="tx1"/>
                </a:solidFill>
              </a:rPr>
              <a:t>parameter 추천값</a:t>
            </a:r>
            <a:endParaRPr lang="en-US" sz="1450" dirty="0"/>
          </a:p>
        </p:txBody>
      </p:sp>
      <p:sp>
        <p:nvSpPr>
          <p:cNvPr id="21" name="kb file 3"/>
          <p:cNvSpPr txBox="1"/>
          <p:nvPr/>
        </p:nvSpPr>
        <p:spPr>
          <a:xfrm>
            <a:off x="6309360" y="2514600"/>
            <a:ext cx="2057400" cy="256032"/>
          </a:xfrm>
          <a:prstGeom prst="rect">
            <a:avLst/>
          </a:prstGeom>
          <a:noFill/>
          <a:ln/>
        </p:spPr>
        <p:txBody>
          <a:bodyPr wrap="square" lIns="0" tIns="0" rIns="0" bIns="0" rtlCol="0" anchor="t"/>
          <a:lstStyle/>
          <a:p>
            <a:pPr indent="0" marL="0">
              <a:buNone/>
            </a:pPr>
            <a:r>
              <a:rPr lang="en-US" sz="950" dirty="0">
                <a:solidFill>
                  <a:schemeClr val="accent6"/>
                </a:solidFill>
                <a:latin typeface="Courier New" pitchFamily="34" charset="0"/>
                <a:ea typeface="Courier New" pitchFamily="34" charset="-122"/>
                <a:cs typeface="Courier New" pitchFamily="34" charset="-120"/>
              </a:rPr>
              <a:t>param_hints.yaml</a:t>
            </a:r>
            <a:endParaRPr lang="en-US" sz="950" dirty="0"/>
          </a:p>
        </p:txBody>
      </p:sp>
      <p:sp>
        <p:nvSpPr>
          <p:cNvPr id="22" name="kb text 3"/>
          <p:cNvSpPr txBox="1"/>
          <p:nvPr/>
        </p:nvSpPr>
        <p:spPr>
          <a:xfrm>
            <a:off x="6309360" y="2834640"/>
            <a:ext cx="2057400" cy="548640"/>
          </a:xfrm>
          <a:prstGeom prst="rect">
            <a:avLst/>
          </a:prstGeom>
          <a:noFill/>
          <a:ln/>
        </p:spPr>
        <p:txBody>
          <a:bodyPr wrap="square" lIns="0" tIns="0" rIns="0" bIns="0" rtlCol="0" anchor="t"/>
          <a:lstStyle/>
          <a:p>
            <a:pPr indent="0" marL="0">
              <a:buNone/>
            </a:pPr>
            <a:r>
              <a:rPr lang="en-US" sz="1050" dirty="0">
                <a:solidFill>
                  <a:schemeClr val="tx2"/>
                </a:solidFill>
              </a:rPr>
              <a:t>resolution 0.4 ~ 2.0</a:t>
            </a:r>
            <a:endParaRPr lang="en-US" sz="1050" dirty="0"/>
          </a:p>
          <a:p>
            <a:pPr indent="0" marL="0">
              <a:buNone/>
            </a:pPr>
            <a:r>
              <a:rPr lang="en-US" sz="1050" dirty="0">
                <a:solidFill>
                  <a:schemeClr val="tx2"/>
                </a:solidFill>
              </a:rPr>
              <a:t>percent.mt &lt; 5 ~ 20 …</a:t>
            </a:r>
            <a:endParaRPr lang="en-US" sz="1050" dirty="0"/>
          </a:p>
        </p:txBody>
      </p:sp>
      <p:sp>
        <p:nvSpPr>
          <p:cNvPr id="23" name="kb tag 3"/>
          <p:cNvSpPr/>
          <p:nvPr/>
        </p:nvSpPr>
        <p:spPr>
          <a:xfrm>
            <a:off x="6309360" y="3429000"/>
            <a:ext cx="914400" cy="256032"/>
          </a:xfrm>
          <a:prstGeom prst="roundRect">
            <a:avLst>
              <a:gd name="adj" fmla="val 50000"/>
            </a:avLst>
          </a:prstGeom>
          <a:solidFill>
            <a:schemeClr val="accent3">
              <a:alpha val="15000"/>
            </a:schemeClr>
          </a:solidFill>
          <a:ln w="9525">
            <a:solidFill>
              <a:schemeClr val="accent3">
                <a:alpha val="30000"/>
              </a:schemeClr>
            </a:solidFill>
            <a:prstDash val="solid"/>
          </a:ln>
        </p:spPr>
      </p:sp>
      <p:sp>
        <p:nvSpPr>
          <p:cNvPr id="24" name="Text 19"/>
          <p:cNvSpPr txBox="1"/>
          <p:nvPr/>
        </p:nvSpPr>
        <p:spPr>
          <a:xfrm>
            <a:off x="6309360" y="3429000"/>
            <a:ext cx="914400" cy="256032"/>
          </a:xfrm>
          <a:prstGeom prst="rect">
            <a:avLst/>
          </a:prstGeom>
          <a:noFill/>
          <a:ln/>
        </p:spPr>
        <p:txBody>
          <a:bodyPr wrap="square" lIns="0" tIns="0" rIns="0" bIns="0" rtlCol="0" anchor="ctr"/>
          <a:lstStyle/>
          <a:p>
            <a:pPr algn="ctr" indent="0" marL="0">
              <a:buNone/>
            </a:pPr>
            <a:r>
              <a:rPr lang="en-US" sz="1000" b="1" dirty="0">
                <a:solidFill>
                  <a:schemeClr val="accent3"/>
                </a:solidFill>
              </a:rPr>
              <a:t>→ ③ 가이드</a:t>
            </a:r>
            <a:endParaRPr lang="en-US" sz="1000" dirty="0"/>
          </a:p>
        </p:txBody>
      </p:sp>
      <p:sp>
        <p:nvSpPr>
          <p:cNvPr id="25" name="kb note"/>
          <p:cNvSpPr txBox="1"/>
          <p:nvPr/>
        </p:nvSpPr>
        <p:spPr>
          <a:xfrm>
            <a:off x="457200" y="4069080"/>
            <a:ext cx="8229600" cy="274320"/>
          </a:xfrm>
          <a:prstGeom prst="rect">
            <a:avLst/>
          </a:prstGeom>
          <a:noFill/>
          <a:ln/>
        </p:spPr>
        <p:txBody>
          <a:bodyPr wrap="square" lIns="0" tIns="0" rIns="0" bIns="0" rtlCol="0" anchor="t"/>
          <a:lstStyle/>
          <a:p>
            <a:pPr indent="0" marL="0">
              <a:buNone/>
            </a:pPr>
            <a:r>
              <a:rPr lang="en-US" sz="1100" dirty="0">
                <a:solidFill>
                  <a:schemeClr val="accent6"/>
                </a:solidFill>
              </a:rPr>
              <a:t>예: 우리 팀이 쓰는 QC 기준을 param_hints.yaml에 한 줄 추가 → 바로 추천값에 반영</a:t>
            </a:r>
            <a:endParaRPr lang="en-US" sz="110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화면 설계: 쉽게, 깔끔하게</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처음 보는 사람도 설명 없이 쓸 수 있도록</a:t>
            </a:r>
            <a:endParaRPr lang="en-US" sz="1250" dirty="0"/>
          </a:p>
        </p:txBody>
      </p:sp>
      <p:pic>
        <p:nvPicPr>
          <p:cNvPr id="4" name="app screenshot" descr="/home/user/bi-pipeline-assistant/docs/screenshot.png">    </p:cNvPr>
          <p:cNvPicPr>
            <a:picLocks noChangeAspect="1"/>
          </p:cNvPicPr>
          <p:nvPr/>
        </p:nvPicPr>
        <p:blipFill>
          <a:blip r:embed="rId1"/>
          <a:stretch>
            <a:fillRect/>
          </a:stretch>
        </p:blipFill>
        <p:spPr>
          <a:xfrm>
            <a:off x="457200" y="1371600"/>
            <a:ext cx="4754880" cy="2377440"/>
          </a:xfrm>
          <a:prstGeom prst="rect">
            <a:avLst/>
          </a:prstGeom>
        </p:spPr>
      </p:pic>
      <p:sp>
        <p:nvSpPr>
          <p:cNvPr id="5" name="screenshot frame"/>
          <p:cNvSpPr/>
          <p:nvPr/>
        </p:nvSpPr>
        <p:spPr>
          <a:xfrm>
            <a:off x="457200" y="1371600"/>
            <a:ext cx="4754880" cy="2377440"/>
          </a:xfrm>
          <a:prstGeom prst="rect">
            <a:avLst/>
          </a:prstGeom>
          <a:ln w="9525">
            <a:solidFill>
              <a:srgbClr val="E5E7EB"/>
            </a:solidFill>
            <a:prstDash val="solid"/>
          </a:ln>
        </p:spPr>
      </p:sp>
      <p:sp>
        <p:nvSpPr>
          <p:cNvPr id="6" name="ui point 1"/>
          <p:cNvSpPr txBox="1"/>
          <p:nvPr/>
        </p:nvSpPr>
        <p:spPr>
          <a:xfrm>
            <a:off x="5486400" y="1371600"/>
            <a:ext cx="3200400" cy="274320"/>
          </a:xfrm>
          <a:prstGeom prst="rect">
            <a:avLst/>
          </a:prstGeom>
          <a:noFill/>
          <a:ln/>
        </p:spPr>
        <p:txBody>
          <a:bodyPr wrap="square" lIns="0" tIns="0" rIns="0" bIns="0" rtlCol="0" anchor="t"/>
          <a:lstStyle/>
          <a:p>
            <a:pPr indent="0" marL="0">
              <a:buNone/>
            </a:pPr>
            <a:r>
              <a:rPr lang="en-US" sz="1250" b="1" dirty="0">
                <a:solidFill>
                  <a:schemeClr val="tx1"/>
                </a:solidFill>
              </a:rPr>
              <a:t>탭 3개 + 상세 설명 카드</a:t>
            </a:r>
            <a:endParaRPr lang="en-US" sz="1250" dirty="0"/>
          </a:p>
        </p:txBody>
      </p:sp>
      <p:sp>
        <p:nvSpPr>
          <p:cNvPr id="7" name="ui detail 1"/>
          <p:cNvSpPr txBox="1"/>
          <p:nvPr/>
        </p:nvSpPr>
        <p:spPr>
          <a:xfrm>
            <a:off x="5486400" y="1645920"/>
            <a:ext cx="3200400" cy="274320"/>
          </a:xfrm>
          <a:prstGeom prst="rect">
            <a:avLst/>
          </a:prstGeom>
          <a:noFill/>
          <a:ln/>
        </p:spPr>
        <p:txBody>
          <a:bodyPr wrap="square" lIns="0" tIns="0" rIns="0" bIns="0" rtlCol="0" anchor="t"/>
          <a:lstStyle/>
          <a:p>
            <a:pPr indent="0" marL="0">
              <a:buNone/>
            </a:pPr>
            <a:r>
              <a:rPr lang="en-US" sz="1000" dirty="0">
                <a:solidFill>
                  <a:schemeClr val="tx2"/>
                </a:solidFill>
              </a:rPr>
              <a:t>넣는 것 · 얻는 것 · 이럴 때를 각 탭 위에</a:t>
            </a:r>
            <a:endParaRPr lang="en-US" sz="1000" dirty="0"/>
          </a:p>
        </p:txBody>
      </p:sp>
      <p:sp>
        <p:nvSpPr>
          <p:cNvPr id="8" name="ui point 2"/>
          <p:cNvSpPr txBox="1"/>
          <p:nvPr/>
        </p:nvSpPr>
        <p:spPr>
          <a:xfrm>
            <a:off x="5486400" y="1993392"/>
            <a:ext cx="3200400" cy="274320"/>
          </a:xfrm>
          <a:prstGeom prst="rect">
            <a:avLst/>
          </a:prstGeom>
          <a:noFill/>
          <a:ln/>
        </p:spPr>
        <p:txBody>
          <a:bodyPr wrap="square" lIns="0" tIns="0" rIns="0" bIns="0" rtlCol="0" anchor="t"/>
          <a:lstStyle/>
          <a:p>
            <a:pPr indent="0" marL="0">
              <a:buNone/>
            </a:pPr>
            <a:r>
              <a:rPr lang="en-US" sz="1250" b="1" dirty="0">
                <a:solidFill>
                  <a:schemeClr val="tx1"/>
                </a:solidFill>
              </a:rPr>
              <a:t>기본은 무채색, 결과만 파스텔</a:t>
            </a:r>
            <a:endParaRPr lang="en-US" sz="1250" dirty="0"/>
          </a:p>
        </p:txBody>
      </p:sp>
      <p:sp>
        <p:nvSpPr>
          <p:cNvPr id="9" name="ui detail 2"/>
          <p:cNvSpPr txBox="1"/>
          <p:nvPr/>
        </p:nvSpPr>
        <p:spPr>
          <a:xfrm>
            <a:off x="5486400" y="2267712"/>
            <a:ext cx="3200400" cy="274320"/>
          </a:xfrm>
          <a:prstGeom prst="rect">
            <a:avLst/>
          </a:prstGeom>
          <a:noFill/>
          <a:ln/>
        </p:spPr>
        <p:txBody>
          <a:bodyPr wrap="square" lIns="0" tIns="0" rIns="0" bIns="0" rtlCol="0" anchor="t"/>
          <a:lstStyle/>
          <a:p>
            <a:pPr indent="0" marL="0">
              <a:buNone/>
            </a:pPr>
            <a:r>
              <a:rPr lang="en-US" sz="1000" dirty="0">
                <a:solidFill>
                  <a:schemeClr val="tx2"/>
                </a:solidFill>
              </a:rPr>
              <a:t>중요한 정보에만 연한 색을 써서 눈에 띄게</a:t>
            </a:r>
            <a:endParaRPr lang="en-US" sz="1000" dirty="0"/>
          </a:p>
        </p:txBody>
      </p:sp>
      <p:sp>
        <p:nvSpPr>
          <p:cNvPr id="10" name="ui point 3"/>
          <p:cNvSpPr txBox="1"/>
          <p:nvPr/>
        </p:nvSpPr>
        <p:spPr>
          <a:xfrm>
            <a:off x="5486400" y="2615184"/>
            <a:ext cx="3200400" cy="274320"/>
          </a:xfrm>
          <a:prstGeom prst="rect">
            <a:avLst/>
          </a:prstGeom>
          <a:noFill/>
          <a:ln/>
        </p:spPr>
        <p:txBody>
          <a:bodyPr wrap="square" lIns="0" tIns="0" rIns="0" bIns="0" rtlCol="0" anchor="t"/>
          <a:lstStyle/>
          <a:p>
            <a:pPr indent="0" marL="0">
              <a:buNone/>
            </a:pPr>
            <a:r>
              <a:rPr lang="en-US" sz="1250" b="1" dirty="0">
                <a:solidFill>
                  <a:schemeClr val="tx1"/>
                </a:solidFill>
              </a:rPr>
              <a:t>Pretendard 글꼴 내장</a:t>
            </a:r>
            <a:endParaRPr lang="en-US" sz="1250" dirty="0"/>
          </a:p>
        </p:txBody>
      </p:sp>
      <p:sp>
        <p:nvSpPr>
          <p:cNvPr id="11" name="ui detail 3"/>
          <p:cNvSpPr txBox="1"/>
          <p:nvPr/>
        </p:nvSpPr>
        <p:spPr>
          <a:xfrm>
            <a:off x="5486400" y="2889504"/>
            <a:ext cx="3200400" cy="274320"/>
          </a:xfrm>
          <a:prstGeom prst="rect">
            <a:avLst/>
          </a:prstGeom>
          <a:noFill/>
          <a:ln/>
        </p:spPr>
        <p:txBody>
          <a:bodyPr wrap="square" lIns="0" tIns="0" rIns="0" bIns="0" rtlCol="0" anchor="t"/>
          <a:lstStyle/>
          <a:p>
            <a:pPr indent="0" marL="0">
              <a:buNone/>
            </a:pPr>
            <a:r>
              <a:rPr lang="en-US" sz="1000" dirty="0">
                <a:solidFill>
                  <a:schemeClr val="tx2"/>
                </a:solidFill>
              </a:rPr>
              <a:t>인터넷 없이도 같은 화면</a:t>
            </a:r>
            <a:endParaRPr lang="en-US" sz="1000" dirty="0"/>
          </a:p>
        </p:txBody>
      </p:sp>
      <p:sp>
        <p:nvSpPr>
          <p:cNvPr id="12" name="ui point 4"/>
          <p:cNvSpPr txBox="1"/>
          <p:nvPr/>
        </p:nvSpPr>
        <p:spPr>
          <a:xfrm>
            <a:off x="5486400" y="3236976"/>
            <a:ext cx="3200400" cy="274320"/>
          </a:xfrm>
          <a:prstGeom prst="rect">
            <a:avLst/>
          </a:prstGeom>
          <a:noFill/>
          <a:ln/>
        </p:spPr>
        <p:txBody>
          <a:bodyPr wrap="square" lIns="0" tIns="0" rIns="0" bIns="0" rtlCol="0" anchor="t"/>
          <a:lstStyle/>
          <a:p>
            <a:pPr indent="0" marL="0">
              <a:buNone/>
            </a:pPr>
            <a:r>
              <a:rPr lang="en-US" sz="1250" b="1" dirty="0">
                <a:solidFill>
                  <a:schemeClr val="tx1"/>
                </a:solidFill>
              </a:rPr>
              <a:t>⚽ 축구 로딩 애니메이션</a:t>
            </a:r>
            <a:endParaRPr lang="en-US" sz="1250" dirty="0"/>
          </a:p>
        </p:txBody>
      </p:sp>
      <p:sp>
        <p:nvSpPr>
          <p:cNvPr id="13" name="ui detail 4"/>
          <p:cNvSpPr txBox="1"/>
          <p:nvPr/>
        </p:nvSpPr>
        <p:spPr>
          <a:xfrm>
            <a:off x="5486400" y="3511296"/>
            <a:ext cx="3200400" cy="274320"/>
          </a:xfrm>
          <a:prstGeom prst="rect">
            <a:avLst/>
          </a:prstGeom>
          <a:noFill/>
          <a:ln/>
        </p:spPr>
        <p:txBody>
          <a:bodyPr wrap="square" lIns="0" tIns="0" rIns="0" bIns="0" rtlCol="0" anchor="t"/>
          <a:lstStyle/>
          <a:p>
            <a:pPr indent="0" marL="0">
              <a:buNone/>
            </a:pPr>
            <a:r>
              <a:rPr lang="en-US" sz="1000" dirty="0">
                <a:solidFill>
                  <a:schemeClr val="tx2"/>
                </a:solidFill>
              </a:rPr>
              <a:t>1분 기다리는 동안 지루하지 않게</a:t>
            </a:r>
            <a:endParaRPr lang="en-US" sz="1000" dirty="0"/>
          </a:p>
        </p:txBody>
      </p:sp>
      <p:sp>
        <p:nvSpPr>
          <p:cNvPr id="14" name="ui note"/>
          <p:cNvSpPr txBox="1"/>
          <p:nvPr/>
        </p:nvSpPr>
        <p:spPr>
          <a:xfrm>
            <a:off x="457200" y="3931920"/>
            <a:ext cx="4754880" cy="274320"/>
          </a:xfrm>
          <a:prstGeom prst="rect">
            <a:avLst/>
          </a:prstGeom>
          <a:noFill/>
          <a:ln/>
        </p:spPr>
        <p:txBody>
          <a:bodyPr wrap="square" lIns="0" tIns="0" rIns="0" bIns="0" rtlCol="0" anchor="t"/>
          <a:lstStyle/>
          <a:p>
            <a:pPr indent="0" marL="0">
              <a:buNone/>
            </a:pPr>
            <a:r>
              <a:rPr lang="en-US" sz="1000" dirty="0">
                <a:solidFill>
                  <a:schemeClr val="accent6"/>
                </a:solidFill>
              </a:rPr>
              <a:t>Streamlit · 디자인은 bi_assistant/ui.py 한 파일</a:t>
            </a:r>
            <a:endParaRPr lang="en-US" sz="100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안전장치와 검증</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회사에서 쓰는 도구라 보안과 안정성을 먼저 챙겼습니다</a:t>
            </a:r>
            <a:endParaRPr lang="en-US" sz="1250" dirty="0"/>
          </a:p>
        </p:txBody>
      </p:sp>
      <p:sp>
        <p:nvSpPr>
          <p:cNvPr id="4" name="safe card 1"/>
          <p:cNvSpPr/>
          <p:nvPr/>
        </p:nvSpPr>
        <p:spPr>
          <a:xfrm>
            <a:off x="457200" y="1417320"/>
            <a:ext cx="4023360" cy="1188720"/>
          </a:xfrm>
          <a:prstGeom prst="roundRect">
            <a:avLst>
              <a:gd name="adj" fmla="val 9231"/>
            </a:avLst>
          </a:prstGeom>
          <a:solidFill>
            <a:schemeClr val="accent4">
              <a:alpha val="8000"/>
            </a:schemeClr>
          </a:solidFill>
          <a:ln w="12700">
            <a:solidFill>
              <a:schemeClr val="accent4">
                <a:alpha val="25000"/>
              </a:schemeClr>
            </a:solidFill>
            <a:prstDash val="solid"/>
          </a:ln>
        </p:spPr>
      </p:sp>
      <p:sp>
        <p:nvSpPr>
          <p:cNvPr id="5" name="safe circle 1"/>
          <p:cNvSpPr/>
          <p:nvPr/>
        </p:nvSpPr>
        <p:spPr>
          <a:xfrm>
            <a:off x="685800" y="1691640"/>
            <a:ext cx="566928" cy="566928"/>
          </a:xfrm>
          <a:prstGeom prst="ellipse">
            <a:avLst/>
          </a:prstGeom>
          <a:solidFill>
            <a:schemeClr val="bg1"/>
          </a:solidFill>
          <a:ln w="9525">
            <a:solidFill>
              <a:schemeClr val="accent4">
                <a:alpha val="30000"/>
              </a:schemeClr>
            </a:solidFill>
            <a:prstDash val="solid"/>
          </a:ln>
        </p:spPr>
      </p:sp>
      <p:pic>
        <p:nvPicPr>
          <p:cNvPr id="6" name="safe icon 1" descr="preencoded.png">    </p:cNvPr>
          <p:cNvPicPr>
            <a:picLocks noChangeAspect="1"/>
          </p:cNvPicPr>
          <p:nvPr/>
        </p:nvPicPr>
        <p:blipFill>
          <a:blip r:embed="rId1"/>
          <a:stretch>
            <a:fillRect/>
          </a:stretch>
        </p:blipFill>
        <p:spPr>
          <a:xfrm>
            <a:off x="813816" y="1819656"/>
            <a:ext cx="310896" cy="310896"/>
          </a:xfrm>
          <a:prstGeom prst="rect">
            <a:avLst/>
          </a:prstGeom>
        </p:spPr>
      </p:pic>
      <p:sp>
        <p:nvSpPr>
          <p:cNvPr id="7" name="safe title 1"/>
          <p:cNvSpPr txBox="1"/>
          <p:nvPr/>
        </p:nvSpPr>
        <p:spPr>
          <a:xfrm>
            <a:off x="1463040" y="1645920"/>
            <a:ext cx="2834640" cy="320040"/>
          </a:xfrm>
          <a:prstGeom prst="rect">
            <a:avLst/>
          </a:prstGeom>
          <a:noFill/>
          <a:ln/>
        </p:spPr>
        <p:txBody>
          <a:bodyPr wrap="square" lIns="0" tIns="0" rIns="0" bIns="0" rtlCol="0" anchor="t"/>
          <a:lstStyle/>
          <a:p>
            <a:pPr indent="0" marL="0">
              <a:buNone/>
            </a:pPr>
            <a:r>
              <a:rPr lang="en-US" sz="1350" b="1" dirty="0">
                <a:solidFill>
                  <a:schemeClr val="tx1"/>
                </a:solidFill>
              </a:rPr>
              <a:t>API 키는 업로드 안 됨</a:t>
            </a:r>
            <a:endParaRPr lang="en-US" sz="1350" dirty="0"/>
          </a:p>
        </p:txBody>
      </p:sp>
      <p:sp>
        <p:nvSpPr>
          <p:cNvPr id="8" name="safe text 1"/>
          <p:cNvSpPr txBox="1"/>
          <p:nvPr/>
        </p:nvSpPr>
        <p:spPr>
          <a:xfrm>
            <a:off x="1463040" y="1984248"/>
            <a:ext cx="2834640" cy="502920"/>
          </a:xfrm>
          <a:prstGeom prst="rect">
            <a:avLst/>
          </a:prstGeom>
          <a:noFill/>
          <a:ln/>
        </p:spPr>
        <p:txBody>
          <a:bodyPr wrap="square" lIns="0" tIns="0" rIns="0" bIns="0" rtlCol="0" anchor="t"/>
          <a:lstStyle/>
          <a:p>
            <a:pPr indent="0" marL="0">
              <a:buNone/>
            </a:pPr>
            <a:r>
              <a:rPr lang="en-US" sz="1050" dirty="0">
                <a:solidFill>
                  <a:schemeClr val="tx2"/>
                </a:solidFill>
              </a:rPr>
              <a:t>.env 파일은 .gitignore로 제외 · 전체 기록에서 키 없음 확인</a:t>
            </a:r>
            <a:endParaRPr lang="en-US" sz="1050" dirty="0"/>
          </a:p>
        </p:txBody>
      </p:sp>
      <p:sp>
        <p:nvSpPr>
          <p:cNvPr id="9" name="safe card 2"/>
          <p:cNvSpPr/>
          <p:nvPr/>
        </p:nvSpPr>
        <p:spPr>
          <a:xfrm>
            <a:off x="4663440" y="1417320"/>
            <a:ext cx="4023360" cy="1188720"/>
          </a:xfrm>
          <a:prstGeom prst="roundRect">
            <a:avLst>
              <a:gd name="adj" fmla="val 9231"/>
            </a:avLst>
          </a:prstGeom>
          <a:solidFill>
            <a:schemeClr val="accent1">
              <a:alpha val="8000"/>
            </a:schemeClr>
          </a:solidFill>
          <a:ln w="12700">
            <a:solidFill>
              <a:schemeClr val="accent1">
                <a:alpha val="25000"/>
              </a:schemeClr>
            </a:solidFill>
            <a:prstDash val="solid"/>
          </a:ln>
        </p:spPr>
      </p:sp>
      <p:sp>
        <p:nvSpPr>
          <p:cNvPr id="10" name="safe circle 2"/>
          <p:cNvSpPr/>
          <p:nvPr/>
        </p:nvSpPr>
        <p:spPr>
          <a:xfrm>
            <a:off x="4892040" y="1691640"/>
            <a:ext cx="566928" cy="566928"/>
          </a:xfrm>
          <a:prstGeom prst="ellipse">
            <a:avLst/>
          </a:prstGeom>
          <a:solidFill>
            <a:schemeClr val="bg1"/>
          </a:solidFill>
          <a:ln w="9525">
            <a:solidFill>
              <a:schemeClr val="accent1">
                <a:alpha val="30000"/>
              </a:schemeClr>
            </a:solidFill>
            <a:prstDash val="solid"/>
          </a:ln>
        </p:spPr>
      </p:sp>
      <p:pic>
        <p:nvPicPr>
          <p:cNvPr id="11" name="safe icon 2" descr="preencoded.png">    </p:cNvPr>
          <p:cNvPicPr>
            <a:picLocks noChangeAspect="1"/>
          </p:cNvPicPr>
          <p:nvPr/>
        </p:nvPicPr>
        <p:blipFill>
          <a:blip r:embed="rId2"/>
          <a:stretch>
            <a:fillRect/>
          </a:stretch>
        </p:blipFill>
        <p:spPr>
          <a:xfrm>
            <a:off x="5020056" y="1819656"/>
            <a:ext cx="310896" cy="310896"/>
          </a:xfrm>
          <a:prstGeom prst="rect">
            <a:avLst/>
          </a:prstGeom>
        </p:spPr>
      </p:pic>
      <p:sp>
        <p:nvSpPr>
          <p:cNvPr id="12" name="safe title 2"/>
          <p:cNvSpPr txBox="1"/>
          <p:nvPr/>
        </p:nvSpPr>
        <p:spPr>
          <a:xfrm>
            <a:off x="5669280" y="1645920"/>
            <a:ext cx="2834640" cy="320040"/>
          </a:xfrm>
          <a:prstGeom prst="rect">
            <a:avLst/>
          </a:prstGeom>
          <a:noFill/>
          <a:ln/>
        </p:spPr>
        <p:txBody>
          <a:bodyPr wrap="square" lIns="0" tIns="0" rIns="0" bIns="0" rtlCol="0" anchor="t"/>
          <a:lstStyle/>
          <a:p>
            <a:pPr indent="0" marL="0">
              <a:buNone/>
            </a:pPr>
            <a:r>
              <a:rPr lang="en-US" sz="1350" b="1" dirty="0">
                <a:solidFill>
                  <a:schemeClr val="tx1"/>
                </a:solidFill>
              </a:rPr>
              <a:t>자동 테스트 22개</a:t>
            </a:r>
            <a:endParaRPr lang="en-US" sz="1350" dirty="0"/>
          </a:p>
        </p:txBody>
      </p:sp>
      <p:sp>
        <p:nvSpPr>
          <p:cNvPr id="13" name="safe text 2"/>
          <p:cNvSpPr txBox="1"/>
          <p:nvPr/>
        </p:nvSpPr>
        <p:spPr>
          <a:xfrm>
            <a:off x="5669280" y="1984248"/>
            <a:ext cx="2834640" cy="502920"/>
          </a:xfrm>
          <a:prstGeom prst="rect">
            <a:avLst/>
          </a:prstGeom>
          <a:noFill/>
          <a:ln/>
        </p:spPr>
        <p:txBody>
          <a:bodyPr wrap="square" lIns="0" tIns="0" rIns="0" bIns="0" rtlCol="0" anchor="t"/>
          <a:lstStyle/>
          <a:p>
            <a:pPr indent="0" marL="0">
              <a:buNone/>
            </a:pPr>
            <a:r>
              <a:rPr lang="en-US" sz="1050" dirty="0">
                <a:solidFill>
                  <a:schemeClr val="tx2"/>
                </a:solidFill>
              </a:rPr>
              <a:t>AI 호출을 가짜 응답으로 바꿔서 API 키 없이도 검증</a:t>
            </a:r>
            <a:endParaRPr lang="en-US" sz="1050" dirty="0"/>
          </a:p>
        </p:txBody>
      </p:sp>
      <p:sp>
        <p:nvSpPr>
          <p:cNvPr id="14" name="safe card 3"/>
          <p:cNvSpPr/>
          <p:nvPr/>
        </p:nvSpPr>
        <p:spPr>
          <a:xfrm>
            <a:off x="457200" y="2788920"/>
            <a:ext cx="4023360" cy="1188720"/>
          </a:xfrm>
          <a:prstGeom prst="roundRect">
            <a:avLst>
              <a:gd name="adj" fmla="val 9231"/>
            </a:avLst>
          </a:prstGeom>
          <a:solidFill>
            <a:schemeClr val="accent2">
              <a:alpha val="8000"/>
            </a:schemeClr>
          </a:solidFill>
          <a:ln w="12700">
            <a:solidFill>
              <a:schemeClr val="accent2">
                <a:alpha val="25000"/>
              </a:schemeClr>
            </a:solidFill>
            <a:prstDash val="solid"/>
          </a:ln>
        </p:spPr>
      </p:sp>
      <p:sp>
        <p:nvSpPr>
          <p:cNvPr id="15" name="safe circle 3"/>
          <p:cNvSpPr/>
          <p:nvPr/>
        </p:nvSpPr>
        <p:spPr>
          <a:xfrm>
            <a:off x="685800" y="3063240"/>
            <a:ext cx="566928" cy="566928"/>
          </a:xfrm>
          <a:prstGeom prst="ellipse">
            <a:avLst/>
          </a:prstGeom>
          <a:solidFill>
            <a:schemeClr val="bg1"/>
          </a:solidFill>
          <a:ln w="9525">
            <a:solidFill>
              <a:schemeClr val="accent2">
                <a:alpha val="30000"/>
              </a:schemeClr>
            </a:solidFill>
            <a:prstDash val="solid"/>
          </a:ln>
        </p:spPr>
      </p:sp>
      <p:pic>
        <p:nvPicPr>
          <p:cNvPr id="16" name="safe icon 3" descr="preencoded.png">    </p:cNvPr>
          <p:cNvPicPr>
            <a:picLocks noChangeAspect="1"/>
          </p:cNvPicPr>
          <p:nvPr/>
        </p:nvPicPr>
        <p:blipFill>
          <a:blip r:embed="rId3"/>
          <a:stretch>
            <a:fillRect/>
          </a:stretch>
        </p:blipFill>
        <p:spPr>
          <a:xfrm>
            <a:off x="813816" y="3191256"/>
            <a:ext cx="310896" cy="310896"/>
          </a:xfrm>
          <a:prstGeom prst="rect">
            <a:avLst/>
          </a:prstGeom>
        </p:spPr>
      </p:pic>
      <p:sp>
        <p:nvSpPr>
          <p:cNvPr id="17" name="safe title 3"/>
          <p:cNvSpPr txBox="1"/>
          <p:nvPr/>
        </p:nvSpPr>
        <p:spPr>
          <a:xfrm>
            <a:off x="1463040" y="3017520"/>
            <a:ext cx="2834640" cy="320040"/>
          </a:xfrm>
          <a:prstGeom prst="rect">
            <a:avLst/>
          </a:prstGeom>
          <a:noFill/>
          <a:ln/>
        </p:spPr>
        <p:txBody>
          <a:bodyPr wrap="square" lIns="0" tIns="0" rIns="0" bIns="0" rtlCol="0" anchor="t"/>
          <a:lstStyle/>
          <a:p>
            <a:pPr indent="0" marL="0">
              <a:buNone/>
            </a:pPr>
            <a:r>
              <a:rPr lang="en-US" sz="1350" b="1" dirty="0">
                <a:solidFill>
                  <a:schemeClr val="tx1"/>
                </a:solidFill>
              </a:rPr>
              <a:t>오프라인 모드</a:t>
            </a:r>
            <a:endParaRPr lang="en-US" sz="1350" dirty="0"/>
          </a:p>
        </p:txBody>
      </p:sp>
      <p:sp>
        <p:nvSpPr>
          <p:cNvPr id="18" name="safe text 3"/>
          <p:cNvSpPr txBox="1"/>
          <p:nvPr/>
        </p:nvSpPr>
        <p:spPr>
          <a:xfrm>
            <a:off x="1463040" y="3355848"/>
            <a:ext cx="2834640" cy="502920"/>
          </a:xfrm>
          <a:prstGeom prst="rect">
            <a:avLst/>
          </a:prstGeom>
          <a:noFill/>
          <a:ln/>
        </p:spPr>
        <p:txBody>
          <a:bodyPr wrap="square" lIns="0" tIns="0" rIns="0" bIns="0" rtlCol="0" anchor="t"/>
          <a:lstStyle/>
          <a:p>
            <a:pPr indent="0" marL="0">
              <a:buNone/>
            </a:pPr>
            <a:r>
              <a:rPr lang="en-US" sz="1050" dirty="0">
                <a:solidFill>
                  <a:schemeClr val="tx2"/>
                </a:solidFill>
              </a:rPr>
              <a:t>키나 인터넷이 없어도 ③ 가이드는 동작</a:t>
            </a:r>
            <a:endParaRPr lang="en-US" sz="1050" dirty="0"/>
          </a:p>
        </p:txBody>
      </p:sp>
      <p:sp>
        <p:nvSpPr>
          <p:cNvPr id="19" name="safe card 4"/>
          <p:cNvSpPr/>
          <p:nvPr/>
        </p:nvSpPr>
        <p:spPr>
          <a:xfrm>
            <a:off x="4663440" y="2788920"/>
            <a:ext cx="4023360" cy="1188720"/>
          </a:xfrm>
          <a:prstGeom prst="roundRect">
            <a:avLst>
              <a:gd name="adj" fmla="val 9231"/>
            </a:avLst>
          </a:prstGeom>
          <a:solidFill>
            <a:schemeClr val="accent3">
              <a:alpha val="8000"/>
            </a:schemeClr>
          </a:solidFill>
          <a:ln w="12700">
            <a:solidFill>
              <a:schemeClr val="accent3">
                <a:alpha val="25000"/>
              </a:schemeClr>
            </a:solidFill>
            <a:prstDash val="solid"/>
          </a:ln>
        </p:spPr>
      </p:sp>
      <p:sp>
        <p:nvSpPr>
          <p:cNvPr id="20" name="safe circle 4"/>
          <p:cNvSpPr/>
          <p:nvPr/>
        </p:nvSpPr>
        <p:spPr>
          <a:xfrm>
            <a:off x="4892040" y="3063240"/>
            <a:ext cx="566928" cy="566928"/>
          </a:xfrm>
          <a:prstGeom prst="ellipse">
            <a:avLst/>
          </a:prstGeom>
          <a:solidFill>
            <a:schemeClr val="bg1"/>
          </a:solidFill>
          <a:ln w="9525">
            <a:solidFill>
              <a:schemeClr val="accent3">
                <a:alpha val="30000"/>
              </a:schemeClr>
            </a:solidFill>
            <a:prstDash val="solid"/>
          </a:ln>
        </p:spPr>
      </p:sp>
      <p:pic>
        <p:nvPicPr>
          <p:cNvPr id="21" name="safe icon 4" descr="preencoded.png">    </p:cNvPr>
          <p:cNvPicPr>
            <a:picLocks noChangeAspect="1"/>
          </p:cNvPicPr>
          <p:nvPr/>
        </p:nvPicPr>
        <p:blipFill>
          <a:blip r:embed="rId4"/>
          <a:stretch>
            <a:fillRect/>
          </a:stretch>
        </p:blipFill>
        <p:spPr>
          <a:xfrm>
            <a:off x="5020056" y="3191256"/>
            <a:ext cx="310896" cy="310896"/>
          </a:xfrm>
          <a:prstGeom prst="rect">
            <a:avLst/>
          </a:prstGeom>
        </p:spPr>
      </p:pic>
      <p:sp>
        <p:nvSpPr>
          <p:cNvPr id="22" name="safe title 4"/>
          <p:cNvSpPr txBox="1"/>
          <p:nvPr/>
        </p:nvSpPr>
        <p:spPr>
          <a:xfrm>
            <a:off x="5669280" y="3017520"/>
            <a:ext cx="2834640" cy="320040"/>
          </a:xfrm>
          <a:prstGeom prst="rect">
            <a:avLst/>
          </a:prstGeom>
          <a:noFill/>
          <a:ln/>
        </p:spPr>
        <p:txBody>
          <a:bodyPr wrap="square" lIns="0" tIns="0" rIns="0" bIns="0" rtlCol="0" anchor="t"/>
          <a:lstStyle/>
          <a:p>
            <a:pPr indent="0" marL="0">
              <a:buNone/>
            </a:pPr>
            <a:r>
              <a:rPr lang="en-US" sz="1350" b="1" dirty="0">
                <a:solidFill>
                  <a:schemeClr val="tx1"/>
                </a:solidFill>
              </a:rPr>
              <a:t>사내 정책 안내</a:t>
            </a:r>
            <a:endParaRPr lang="en-US" sz="1350" dirty="0"/>
          </a:p>
        </p:txBody>
      </p:sp>
      <p:sp>
        <p:nvSpPr>
          <p:cNvPr id="23" name="safe text 4"/>
          <p:cNvSpPr txBox="1"/>
          <p:nvPr/>
        </p:nvSpPr>
        <p:spPr>
          <a:xfrm>
            <a:off x="5669280" y="3355848"/>
            <a:ext cx="2834640" cy="502920"/>
          </a:xfrm>
          <a:prstGeom prst="rect">
            <a:avLst/>
          </a:prstGeom>
          <a:noFill/>
          <a:ln/>
        </p:spPr>
        <p:txBody>
          <a:bodyPr wrap="square" lIns="0" tIns="0" rIns="0" bIns="0" rtlCol="0" anchor="t"/>
          <a:lstStyle/>
          <a:p>
            <a:pPr indent="0" marL="0">
              <a:buNone/>
            </a:pPr>
            <a:r>
              <a:rPr lang="en-US" sz="1050" dirty="0">
                <a:solidFill>
                  <a:schemeClr val="tx2"/>
                </a:solidFill>
              </a:rPr>
              <a:t>외부 AI로 코드 전송 전 확인 문구 · 실행 검증은 선택</a:t>
            </a:r>
            <a:endParaRPr lang="en-US" sz="105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chemeClr val="tx1"/>
                </a:solidFill>
              </a:rPr>
              <a:t>다음 단계</a:t>
            </a:r>
            <a:endParaRPr lang="en-US" sz="2600" dirty="0"/>
          </a:p>
        </p:txBody>
      </p:sp>
      <p:sp>
        <p:nvSpPr>
          <p:cNvPr id="3" name="Text 1"/>
          <p:cNvSpPr/>
          <p:nvPr/>
        </p:nvSpPr>
        <p:spPr>
          <a:xfrm>
            <a:off x="457200" y="868680"/>
            <a:ext cx="8229600" cy="329184"/>
          </a:xfrm>
          <a:prstGeom prst="rect">
            <a:avLst/>
          </a:prstGeom>
          <a:noFill/>
          <a:ln/>
        </p:spPr>
        <p:txBody>
          <a:bodyPr wrap="square" lIns="0" tIns="0" rIns="0" bIns="0" rtlCol="0" anchor="t"/>
          <a:lstStyle/>
          <a:p>
            <a:pPr indent="0" marL="0">
              <a:buNone/>
            </a:pPr>
            <a:r>
              <a:rPr lang="en-US" sz="1250" dirty="0">
                <a:solidFill>
                  <a:schemeClr val="accent6"/>
                </a:solidFill>
              </a:rPr>
              <a:t>써보면서 개선하고 싶은 것들</a:t>
            </a:r>
            <a:endParaRPr lang="en-US" sz="1250" dirty="0"/>
          </a:p>
        </p:txBody>
      </p:sp>
      <p:sp>
        <p:nvSpPr>
          <p:cNvPr id="4" name="timeline"/>
          <p:cNvSpPr/>
          <p:nvPr/>
        </p:nvSpPr>
        <p:spPr>
          <a:xfrm>
            <a:off x="731520" y="2148840"/>
            <a:ext cx="7680960" cy="0"/>
          </a:xfrm>
          <a:prstGeom prst="line">
            <a:avLst/>
          </a:prstGeom>
          <a:noFill/>
          <a:ln w="19050">
            <a:solidFill>
              <a:srgbClr val="D1D5DB"/>
            </a:solidFill>
            <a:prstDash val="solid"/>
          </a:ln>
        </p:spPr>
      </p:sp>
      <p:sp>
        <p:nvSpPr>
          <p:cNvPr id="5" name="road dot 1"/>
          <p:cNvSpPr/>
          <p:nvPr/>
        </p:nvSpPr>
        <p:spPr>
          <a:xfrm>
            <a:off x="594360" y="2011680"/>
            <a:ext cx="274320" cy="274320"/>
          </a:xfrm>
          <a:prstGeom prst="ellipse">
            <a:avLst/>
          </a:prstGeom>
          <a:solidFill>
            <a:schemeClr val="accent1">
              <a:alpha val="70000"/>
            </a:schemeClr>
          </a:solidFill>
          <a:ln w="25400">
            <a:solidFill>
              <a:schemeClr val="bg1"/>
            </a:solidFill>
            <a:prstDash val="solid"/>
          </a:ln>
        </p:spPr>
      </p:sp>
      <p:sp>
        <p:nvSpPr>
          <p:cNvPr id="6" name="road num 1"/>
          <p:cNvSpPr txBox="1"/>
          <p:nvPr/>
        </p:nvSpPr>
        <p:spPr>
          <a:xfrm>
            <a:off x="594360" y="1508760"/>
            <a:ext cx="274320" cy="365760"/>
          </a:xfrm>
          <a:prstGeom prst="rect">
            <a:avLst/>
          </a:prstGeom>
          <a:noFill/>
          <a:ln/>
        </p:spPr>
        <p:txBody>
          <a:bodyPr wrap="square" lIns="0" tIns="0" rIns="0" bIns="0" rtlCol="0" anchor="t"/>
          <a:lstStyle/>
          <a:p>
            <a:pPr algn="ctr" indent="0" marL="0">
              <a:buNone/>
            </a:pPr>
            <a:r>
              <a:rPr lang="en-US" sz="1800" b="1" dirty="0">
                <a:solidFill>
                  <a:schemeClr val="accent1"/>
                </a:solidFill>
              </a:rPr>
              <a:t>1</a:t>
            </a:r>
            <a:endParaRPr lang="en-US" sz="1800" dirty="0"/>
          </a:p>
        </p:txBody>
      </p:sp>
      <p:sp>
        <p:nvSpPr>
          <p:cNvPr id="7" name="road title 1"/>
          <p:cNvSpPr txBox="1"/>
          <p:nvPr/>
        </p:nvSpPr>
        <p:spPr>
          <a:xfrm>
            <a:off x="457200" y="2514600"/>
            <a:ext cx="1508760" cy="502920"/>
          </a:xfrm>
          <a:prstGeom prst="rect">
            <a:avLst/>
          </a:prstGeom>
          <a:noFill/>
          <a:ln/>
        </p:spPr>
        <p:txBody>
          <a:bodyPr wrap="square" lIns="0" tIns="0" rIns="0" bIns="0" rtlCol="0" anchor="t"/>
          <a:lstStyle/>
          <a:p>
            <a:pPr indent="0" marL="0">
              <a:buNone/>
            </a:pPr>
            <a:r>
              <a:rPr lang="en-US" sz="1200" b="1" dirty="0">
                <a:solidFill>
                  <a:schemeClr val="tx1"/>
                </a:solidFill>
              </a:rPr>
              <a:t>변환 결과 자동 비교</a:t>
            </a:r>
            <a:endParaRPr lang="en-US" sz="1200" dirty="0"/>
          </a:p>
        </p:txBody>
      </p:sp>
      <p:sp>
        <p:nvSpPr>
          <p:cNvPr id="8" name="road text 1"/>
          <p:cNvSpPr txBox="1"/>
          <p:nvPr/>
        </p:nvSpPr>
        <p:spPr>
          <a:xfrm>
            <a:off x="457200" y="3063240"/>
            <a:ext cx="1508760" cy="731520"/>
          </a:xfrm>
          <a:prstGeom prst="rect">
            <a:avLst/>
          </a:prstGeom>
          <a:noFill/>
          <a:ln/>
        </p:spPr>
        <p:txBody>
          <a:bodyPr wrap="square" lIns="0" tIns="0" rIns="0" bIns="0" rtlCol="0" anchor="t"/>
          <a:lstStyle/>
          <a:p>
            <a:pPr indent="0" marL="0">
              <a:buNone/>
            </a:pPr>
            <a:r>
              <a:rPr lang="en-US" sz="1000" dirty="0">
                <a:solidFill>
                  <a:schemeClr val="tx2"/>
                </a:solidFill>
              </a:rPr>
              <a:t>원본 vs 변환본의 클러스터 수 · DE 유전자 비교</a:t>
            </a:r>
            <a:endParaRPr lang="en-US" sz="1000" dirty="0"/>
          </a:p>
        </p:txBody>
      </p:sp>
      <p:sp>
        <p:nvSpPr>
          <p:cNvPr id="9" name="road dot 2"/>
          <p:cNvSpPr/>
          <p:nvPr/>
        </p:nvSpPr>
        <p:spPr>
          <a:xfrm>
            <a:off x="2240280" y="2011680"/>
            <a:ext cx="274320" cy="274320"/>
          </a:xfrm>
          <a:prstGeom prst="ellipse">
            <a:avLst/>
          </a:prstGeom>
          <a:solidFill>
            <a:schemeClr val="accent2">
              <a:alpha val="70000"/>
            </a:schemeClr>
          </a:solidFill>
          <a:ln w="25400">
            <a:solidFill>
              <a:schemeClr val="bg1"/>
            </a:solidFill>
            <a:prstDash val="solid"/>
          </a:ln>
        </p:spPr>
      </p:sp>
      <p:sp>
        <p:nvSpPr>
          <p:cNvPr id="10" name="road num 2"/>
          <p:cNvSpPr txBox="1"/>
          <p:nvPr/>
        </p:nvSpPr>
        <p:spPr>
          <a:xfrm>
            <a:off x="2240280" y="1508760"/>
            <a:ext cx="274320" cy="365760"/>
          </a:xfrm>
          <a:prstGeom prst="rect">
            <a:avLst/>
          </a:prstGeom>
          <a:noFill/>
          <a:ln/>
        </p:spPr>
        <p:txBody>
          <a:bodyPr wrap="square" lIns="0" tIns="0" rIns="0" bIns="0" rtlCol="0" anchor="t"/>
          <a:lstStyle/>
          <a:p>
            <a:pPr algn="ctr" indent="0" marL="0">
              <a:buNone/>
            </a:pPr>
            <a:r>
              <a:rPr lang="en-US" sz="1800" b="1" dirty="0">
                <a:solidFill>
                  <a:schemeClr val="accent2"/>
                </a:solidFill>
              </a:rPr>
              <a:t>2</a:t>
            </a:r>
            <a:endParaRPr lang="en-US" sz="1800" dirty="0"/>
          </a:p>
        </p:txBody>
      </p:sp>
      <p:sp>
        <p:nvSpPr>
          <p:cNvPr id="11" name="road title 2"/>
          <p:cNvSpPr txBox="1"/>
          <p:nvPr/>
        </p:nvSpPr>
        <p:spPr>
          <a:xfrm>
            <a:off x="2103120" y="2514600"/>
            <a:ext cx="1508760" cy="502920"/>
          </a:xfrm>
          <a:prstGeom prst="rect">
            <a:avLst/>
          </a:prstGeom>
          <a:noFill/>
          <a:ln/>
        </p:spPr>
        <p:txBody>
          <a:bodyPr wrap="square" lIns="0" tIns="0" rIns="0" bIns="0" rtlCol="0" anchor="t"/>
          <a:lstStyle/>
          <a:p>
            <a:pPr indent="0" marL="0">
              <a:buNone/>
            </a:pPr>
            <a:r>
              <a:rPr lang="en-US" sz="1200" b="1" dirty="0">
                <a:solidFill>
                  <a:schemeClr val="tx1"/>
                </a:solidFill>
              </a:rPr>
              <a:t>수정된 코드 바로 받기</a:t>
            </a:r>
            <a:endParaRPr lang="en-US" sz="1200" dirty="0"/>
          </a:p>
        </p:txBody>
      </p:sp>
      <p:sp>
        <p:nvSpPr>
          <p:cNvPr id="12" name="road text 2"/>
          <p:cNvSpPr txBox="1"/>
          <p:nvPr/>
        </p:nvSpPr>
        <p:spPr>
          <a:xfrm>
            <a:off x="2103120" y="3063240"/>
            <a:ext cx="1508760" cy="731520"/>
          </a:xfrm>
          <a:prstGeom prst="rect">
            <a:avLst/>
          </a:prstGeom>
          <a:noFill/>
          <a:ln/>
        </p:spPr>
        <p:txBody>
          <a:bodyPr wrap="square" lIns="0" tIns="0" rIns="0" bIns="0" rtlCol="0" anchor="t"/>
          <a:lstStyle/>
          <a:p>
            <a:pPr indent="0" marL="0">
              <a:buNone/>
            </a:pPr>
            <a:r>
              <a:rPr lang="en-US" sz="1000" dirty="0">
                <a:solidFill>
                  <a:schemeClr val="tx2"/>
                </a:solidFill>
              </a:rPr>
              <a:t>③에서 후보값을 고르면 코드에 반영해 다운로드</a:t>
            </a:r>
            <a:endParaRPr lang="en-US" sz="1000" dirty="0"/>
          </a:p>
        </p:txBody>
      </p:sp>
      <p:sp>
        <p:nvSpPr>
          <p:cNvPr id="13" name="road dot 3"/>
          <p:cNvSpPr/>
          <p:nvPr/>
        </p:nvSpPr>
        <p:spPr>
          <a:xfrm>
            <a:off x="3886200" y="2011680"/>
            <a:ext cx="274320" cy="274320"/>
          </a:xfrm>
          <a:prstGeom prst="ellipse">
            <a:avLst/>
          </a:prstGeom>
          <a:solidFill>
            <a:schemeClr val="accent3">
              <a:alpha val="70000"/>
            </a:schemeClr>
          </a:solidFill>
          <a:ln w="25400">
            <a:solidFill>
              <a:schemeClr val="bg1"/>
            </a:solidFill>
            <a:prstDash val="solid"/>
          </a:ln>
        </p:spPr>
      </p:sp>
      <p:sp>
        <p:nvSpPr>
          <p:cNvPr id="14" name="road num 3"/>
          <p:cNvSpPr txBox="1"/>
          <p:nvPr/>
        </p:nvSpPr>
        <p:spPr>
          <a:xfrm>
            <a:off x="3886200" y="1508760"/>
            <a:ext cx="274320" cy="365760"/>
          </a:xfrm>
          <a:prstGeom prst="rect">
            <a:avLst/>
          </a:prstGeom>
          <a:noFill/>
          <a:ln/>
        </p:spPr>
        <p:txBody>
          <a:bodyPr wrap="square" lIns="0" tIns="0" rIns="0" bIns="0" rtlCol="0" anchor="t"/>
          <a:lstStyle/>
          <a:p>
            <a:pPr algn="ctr" indent="0" marL="0">
              <a:buNone/>
            </a:pPr>
            <a:r>
              <a:rPr lang="en-US" sz="1800" b="1" dirty="0">
                <a:solidFill>
                  <a:schemeClr val="accent3"/>
                </a:solidFill>
              </a:rPr>
              <a:t>3</a:t>
            </a:r>
            <a:endParaRPr lang="en-US" sz="1800" dirty="0"/>
          </a:p>
        </p:txBody>
      </p:sp>
      <p:sp>
        <p:nvSpPr>
          <p:cNvPr id="15" name="road title 3"/>
          <p:cNvSpPr txBox="1"/>
          <p:nvPr/>
        </p:nvSpPr>
        <p:spPr>
          <a:xfrm>
            <a:off x="3749040" y="2514600"/>
            <a:ext cx="1508760" cy="502920"/>
          </a:xfrm>
          <a:prstGeom prst="rect">
            <a:avLst/>
          </a:prstGeom>
          <a:noFill/>
          <a:ln/>
        </p:spPr>
        <p:txBody>
          <a:bodyPr wrap="square" lIns="0" tIns="0" rIns="0" bIns="0" rtlCol="0" anchor="t"/>
          <a:lstStyle/>
          <a:p>
            <a:pPr indent="0" marL="0">
              <a:buNone/>
            </a:pPr>
            <a:r>
              <a:rPr lang="en-US" sz="1200" b="1" dirty="0">
                <a:solidFill>
                  <a:schemeClr val="tx1"/>
                </a:solidFill>
              </a:rPr>
              <a:t>bulk RNA-seq 예제</a:t>
            </a:r>
            <a:endParaRPr lang="en-US" sz="1200" dirty="0"/>
          </a:p>
        </p:txBody>
      </p:sp>
      <p:sp>
        <p:nvSpPr>
          <p:cNvPr id="16" name="road text 3"/>
          <p:cNvSpPr txBox="1"/>
          <p:nvPr/>
        </p:nvSpPr>
        <p:spPr>
          <a:xfrm>
            <a:off x="3749040" y="3063240"/>
            <a:ext cx="1508760" cy="731520"/>
          </a:xfrm>
          <a:prstGeom prst="rect">
            <a:avLst/>
          </a:prstGeom>
          <a:noFill/>
          <a:ln/>
        </p:spPr>
        <p:txBody>
          <a:bodyPr wrap="square" lIns="0" tIns="0" rIns="0" bIns="0" rtlCol="0" anchor="t"/>
          <a:lstStyle/>
          <a:p>
            <a:pPr indent="0" marL="0">
              <a:buNone/>
            </a:pPr>
            <a:r>
              <a:rPr lang="en-US" sz="1000" dirty="0">
                <a:solidFill>
                  <a:schemeClr val="tx2"/>
                </a:solidFill>
              </a:rPr>
              <a:t>DESeq2 ↔ PyDESeq2</a:t>
            </a:r>
            <a:endParaRPr lang="en-US" sz="1000" dirty="0"/>
          </a:p>
        </p:txBody>
      </p:sp>
      <p:sp>
        <p:nvSpPr>
          <p:cNvPr id="17" name="road dot 4"/>
          <p:cNvSpPr/>
          <p:nvPr/>
        </p:nvSpPr>
        <p:spPr>
          <a:xfrm>
            <a:off x="5532120" y="2011680"/>
            <a:ext cx="274320" cy="274320"/>
          </a:xfrm>
          <a:prstGeom prst="ellipse">
            <a:avLst/>
          </a:prstGeom>
          <a:solidFill>
            <a:schemeClr val="accent5">
              <a:alpha val="70000"/>
            </a:schemeClr>
          </a:solidFill>
          <a:ln w="25400">
            <a:solidFill>
              <a:schemeClr val="bg1"/>
            </a:solidFill>
            <a:prstDash val="solid"/>
          </a:ln>
        </p:spPr>
      </p:sp>
      <p:sp>
        <p:nvSpPr>
          <p:cNvPr id="18" name="road num 4"/>
          <p:cNvSpPr txBox="1"/>
          <p:nvPr/>
        </p:nvSpPr>
        <p:spPr>
          <a:xfrm>
            <a:off x="5532120" y="1508760"/>
            <a:ext cx="274320" cy="365760"/>
          </a:xfrm>
          <a:prstGeom prst="rect">
            <a:avLst/>
          </a:prstGeom>
          <a:noFill/>
          <a:ln/>
        </p:spPr>
        <p:txBody>
          <a:bodyPr wrap="square" lIns="0" tIns="0" rIns="0" bIns="0" rtlCol="0" anchor="t"/>
          <a:lstStyle/>
          <a:p>
            <a:pPr algn="ctr" indent="0" marL="0">
              <a:buNone/>
            </a:pPr>
            <a:r>
              <a:rPr lang="en-US" sz="1800" b="1" dirty="0">
                <a:solidFill>
                  <a:schemeClr val="accent5"/>
                </a:solidFill>
              </a:rPr>
              <a:t>4</a:t>
            </a:r>
            <a:endParaRPr lang="en-US" sz="1800" dirty="0"/>
          </a:p>
        </p:txBody>
      </p:sp>
      <p:sp>
        <p:nvSpPr>
          <p:cNvPr id="19" name="road title 4"/>
          <p:cNvSpPr txBox="1"/>
          <p:nvPr/>
        </p:nvSpPr>
        <p:spPr>
          <a:xfrm>
            <a:off x="5394960" y="2514600"/>
            <a:ext cx="1508760" cy="502920"/>
          </a:xfrm>
          <a:prstGeom prst="rect">
            <a:avLst/>
          </a:prstGeom>
          <a:noFill/>
          <a:ln/>
        </p:spPr>
        <p:txBody>
          <a:bodyPr wrap="square" lIns="0" tIns="0" rIns="0" bIns="0" rtlCol="0" anchor="t"/>
          <a:lstStyle/>
          <a:p>
            <a:pPr indent="0" marL="0">
              <a:buNone/>
            </a:pPr>
            <a:r>
              <a:rPr lang="en-US" sz="1200" b="1" dirty="0">
                <a:solidFill>
                  <a:schemeClr val="tx1"/>
                </a:solidFill>
              </a:rPr>
              <a:t>Snakemake · Nextflow</a:t>
            </a:r>
            <a:endParaRPr lang="en-US" sz="1200" dirty="0"/>
          </a:p>
        </p:txBody>
      </p:sp>
      <p:sp>
        <p:nvSpPr>
          <p:cNvPr id="20" name="road text 4"/>
          <p:cNvSpPr txBox="1"/>
          <p:nvPr/>
        </p:nvSpPr>
        <p:spPr>
          <a:xfrm>
            <a:off x="5394960" y="3063240"/>
            <a:ext cx="1508760" cy="731520"/>
          </a:xfrm>
          <a:prstGeom prst="rect">
            <a:avLst/>
          </a:prstGeom>
          <a:noFill/>
          <a:ln/>
        </p:spPr>
        <p:txBody>
          <a:bodyPr wrap="square" lIns="0" tIns="0" rIns="0" bIns="0" rtlCol="0" anchor="t"/>
          <a:lstStyle/>
          <a:p>
            <a:pPr indent="0" marL="0">
              <a:buNone/>
            </a:pPr>
            <a:r>
              <a:rPr lang="en-US" sz="1000" dirty="0">
                <a:solidFill>
                  <a:schemeClr val="tx2"/>
                </a:solidFill>
              </a:rPr>
              <a:t>워크플로 파일 지원 강화</a:t>
            </a:r>
            <a:endParaRPr lang="en-US" sz="1000" dirty="0"/>
          </a:p>
        </p:txBody>
      </p:sp>
      <p:sp>
        <p:nvSpPr>
          <p:cNvPr id="21" name="road dot 5"/>
          <p:cNvSpPr/>
          <p:nvPr/>
        </p:nvSpPr>
        <p:spPr>
          <a:xfrm>
            <a:off x="7178040" y="2011680"/>
            <a:ext cx="274320" cy="274320"/>
          </a:xfrm>
          <a:prstGeom prst="ellipse">
            <a:avLst/>
          </a:prstGeom>
          <a:solidFill>
            <a:schemeClr val="accent4">
              <a:alpha val="70000"/>
            </a:schemeClr>
          </a:solidFill>
          <a:ln w="25400">
            <a:solidFill>
              <a:schemeClr val="bg1"/>
            </a:solidFill>
            <a:prstDash val="solid"/>
          </a:ln>
        </p:spPr>
      </p:sp>
      <p:sp>
        <p:nvSpPr>
          <p:cNvPr id="22" name="road num 5"/>
          <p:cNvSpPr txBox="1"/>
          <p:nvPr/>
        </p:nvSpPr>
        <p:spPr>
          <a:xfrm>
            <a:off x="7178040" y="1508760"/>
            <a:ext cx="274320" cy="365760"/>
          </a:xfrm>
          <a:prstGeom prst="rect">
            <a:avLst/>
          </a:prstGeom>
          <a:noFill/>
          <a:ln/>
        </p:spPr>
        <p:txBody>
          <a:bodyPr wrap="square" lIns="0" tIns="0" rIns="0" bIns="0" rtlCol="0" anchor="t"/>
          <a:lstStyle/>
          <a:p>
            <a:pPr algn="ctr" indent="0" marL="0">
              <a:buNone/>
            </a:pPr>
            <a:r>
              <a:rPr lang="en-US" sz="1800" b="1" dirty="0">
                <a:solidFill>
                  <a:schemeClr val="accent4"/>
                </a:solidFill>
              </a:rPr>
              <a:t>5</a:t>
            </a:r>
            <a:endParaRPr lang="en-US" sz="1800" dirty="0"/>
          </a:p>
        </p:txBody>
      </p:sp>
      <p:sp>
        <p:nvSpPr>
          <p:cNvPr id="23" name="road title 5"/>
          <p:cNvSpPr txBox="1"/>
          <p:nvPr/>
        </p:nvSpPr>
        <p:spPr>
          <a:xfrm>
            <a:off x="7040880" y="2514600"/>
            <a:ext cx="1508760" cy="502920"/>
          </a:xfrm>
          <a:prstGeom prst="rect">
            <a:avLst/>
          </a:prstGeom>
          <a:noFill/>
          <a:ln/>
        </p:spPr>
        <p:txBody>
          <a:bodyPr wrap="square" lIns="0" tIns="0" rIns="0" bIns="0" rtlCol="0" anchor="t"/>
          <a:lstStyle/>
          <a:p>
            <a:pPr indent="0" marL="0">
              <a:buNone/>
            </a:pPr>
            <a:r>
              <a:rPr lang="en-US" sz="1200" b="1" dirty="0">
                <a:solidFill>
                  <a:schemeClr val="tx1"/>
                </a:solidFill>
              </a:rPr>
              <a:t>사내 배포</a:t>
            </a:r>
            <a:endParaRPr lang="en-US" sz="1200" dirty="0"/>
          </a:p>
        </p:txBody>
      </p:sp>
      <p:sp>
        <p:nvSpPr>
          <p:cNvPr id="24" name="road text 5"/>
          <p:cNvSpPr txBox="1"/>
          <p:nvPr/>
        </p:nvSpPr>
        <p:spPr>
          <a:xfrm>
            <a:off x="7040880" y="3063240"/>
            <a:ext cx="1508760" cy="731520"/>
          </a:xfrm>
          <a:prstGeom prst="rect">
            <a:avLst/>
          </a:prstGeom>
          <a:noFill/>
          <a:ln/>
        </p:spPr>
        <p:txBody>
          <a:bodyPr wrap="square" lIns="0" tIns="0" rIns="0" bIns="0" rtlCol="0" anchor="t"/>
          <a:lstStyle/>
          <a:p>
            <a:pPr indent="0" marL="0">
              <a:buNone/>
            </a:pPr>
            <a:r>
              <a:rPr lang="en-US" sz="1000" dirty="0">
                <a:solidFill>
                  <a:schemeClr val="tx2"/>
                </a:solidFill>
              </a:rPr>
              <a:t>Docker + 사내 AI 모델 옵션</a:t>
            </a:r>
            <a:endParaRPr lang="en-US" sz="1000" dirty="0"/>
          </a:p>
        </p:txBody>
      </p:sp>
      <p:pic>
        <p:nvPicPr>
          <p:cNvPr id="25" name="road icon" descr="preencoded.png">    </p:cNvPr>
          <p:cNvPicPr>
            <a:picLocks noChangeAspect="1"/>
          </p:cNvPicPr>
          <p:nvPr/>
        </p:nvPicPr>
        <p:blipFill>
          <a:blip r:embed="rId1"/>
          <a:stretch>
            <a:fillRect/>
          </a:stretch>
        </p:blipFill>
        <p:spPr>
          <a:xfrm>
            <a:off x="457200" y="3977640"/>
            <a:ext cx="256032" cy="256032"/>
          </a:xfrm>
          <a:prstGeom prst="rect">
            <a:avLst/>
          </a:prstGeom>
        </p:spPr>
      </p:pic>
      <p:sp>
        <p:nvSpPr>
          <p:cNvPr id="26" name="road note"/>
          <p:cNvSpPr txBox="1"/>
          <p:nvPr/>
        </p:nvSpPr>
        <p:spPr>
          <a:xfrm>
            <a:off x="822960" y="3977640"/>
            <a:ext cx="7772400" cy="256032"/>
          </a:xfrm>
          <a:prstGeom prst="rect">
            <a:avLst/>
          </a:prstGeom>
          <a:noFill/>
          <a:ln/>
        </p:spPr>
        <p:txBody>
          <a:bodyPr wrap="square" lIns="0" tIns="0" rIns="0" bIns="0" rtlCol="0" anchor="ctr"/>
          <a:lstStyle/>
          <a:p>
            <a:pPr indent="0" marL="0">
              <a:buNone/>
            </a:pPr>
            <a:r>
              <a:rPr lang="en-US" sz="1100" dirty="0">
                <a:solidFill>
                  <a:schemeClr val="accent6"/>
                </a:solidFill>
              </a:rPr>
              <a:t>써보시고 필요한 기능을 알려주시면 knowledge 파일과 함께 계속 키워가겠습니다</a:t>
            </a:r>
            <a:endParaRPr lang="en-US" sz="1100" dirty="0"/>
          </a:p>
        </p:txBody>
      </p:sp>
      <p:sp>
        <p:nvSpPr>
          <p:cNvPr id="25" name="Slide Number Placeholder 0"/>
          <p:cNvSpPr>
            <a:spLocks noGrp="1"/>
          </p:cNvSpPr>
          <p:nvPr>
            <p:ph type="sldNum" sz="quarter" idx="4294967295"/>
          </p:nvPr>
        </p:nvSpPr>
        <p:spPr>
          <a:xfrm>
            <a:off x="8229600" y="47594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losing circle"/>
          <p:cNvSpPr/>
          <p:nvPr/>
        </p:nvSpPr>
        <p:spPr>
          <a:xfrm>
            <a:off x="457200" y="1234440"/>
            <a:ext cx="731520" cy="731520"/>
          </a:xfrm>
          <a:prstGeom prst="ellipse">
            <a:avLst/>
          </a:prstGeom>
          <a:solidFill>
            <a:schemeClr val="accent1">
              <a:alpha val="60000"/>
            </a:schemeClr>
          </a:solidFill>
          <a:ln w="12700">
            <a:solidFill>
              <a:schemeClr val="accent1">
                <a:alpha val="60000"/>
              </a:schemeClr>
            </a:solidFill>
            <a:prstDash val="solid"/>
          </a:ln>
        </p:spPr>
      </p:sp>
      <p:pic>
        <p:nvPicPr>
          <p:cNvPr id="3" name="closing icon" descr="preencoded.png">    </p:cNvPr>
          <p:cNvPicPr>
            <a:picLocks noChangeAspect="1"/>
          </p:cNvPicPr>
          <p:nvPr/>
        </p:nvPicPr>
        <p:blipFill>
          <a:blip r:embed="rId1"/>
          <a:stretch>
            <a:fillRect/>
          </a:stretch>
        </p:blipFill>
        <p:spPr>
          <a:xfrm>
            <a:off x="640080" y="1417320"/>
            <a:ext cx="365760" cy="365760"/>
          </a:xfrm>
          <a:prstGeom prst="rect">
            <a:avLst/>
          </a:prstGeom>
        </p:spPr>
      </p:pic>
      <p:sp>
        <p:nvSpPr>
          <p:cNvPr id="4" name="closing title"/>
          <p:cNvSpPr txBox="1"/>
          <p:nvPr/>
        </p:nvSpPr>
        <p:spPr>
          <a:xfrm>
            <a:off x="457200" y="2194560"/>
            <a:ext cx="8229600" cy="731520"/>
          </a:xfrm>
          <a:prstGeom prst="rect">
            <a:avLst/>
          </a:prstGeom>
          <a:noFill/>
          <a:ln/>
        </p:spPr>
        <p:txBody>
          <a:bodyPr wrap="square" lIns="0" tIns="0" rIns="0" bIns="0" rtlCol="0" anchor="t"/>
          <a:lstStyle/>
          <a:p>
            <a:pPr indent="0" marL="0">
              <a:buNone/>
            </a:pPr>
            <a:r>
              <a:rPr lang="en-US" sz="3400" b="1" dirty="0">
                <a:solidFill>
                  <a:schemeClr val="bg1"/>
                </a:solidFill>
              </a:rPr>
              <a:t>이제 실제 화면으로 보겠습니다</a:t>
            </a:r>
            <a:endParaRPr lang="en-US" sz="3400" dirty="0"/>
          </a:p>
        </p:txBody>
      </p:sp>
      <p:sp>
        <p:nvSpPr>
          <p:cNvPr id="5" name="closing sub"/>
          <p:cNvSpPr txBox="1"/>
          <p:nvPr/>
        </p:nvSpPr>
        <p:spPr>
          <a:xfrm>
            <a:off x="457200" y="2926080"/>
            <a:ext cx="8229600" cy="365760"/>
          </a:xfrm>
          <a:prstGeom prst="rect">
            <a:avLst/>
          </a:prstGeom>
          <a:noFill/>
          <a:ln/>
        </p:spPr>
        <p:txBody>
          <a:bodyPr wrap="square" lIns="0" tIns="0" rIns="0" bIns="0" rtlCol="0" anchor="t"/>
          <a:lstStyle/>
          <a:p>
            <a:pPr indent="0" marL="0">
              <a:buNone/>
            </a:pPr>
            <a:r>
              <a:rPr lang="en-US" sz="1500" dirty="0">
                <a:solidFill>
                  <a:schemeClr val="bg2"/>
                </a:solidFill>
              </a:rPr>
              <a:t>② 파이프라인 비교 → ③ Parameter 가이드 → ① 변환 순서로 데모</a:t>
            </a:r>
            <a:endParaRPr lang="en-US" sz="1500" dirty="0"/>
          </a:p>
        </p:txBody>
      </p:sp>
      <p:sp>
        <p:nvSpPr>
          <p:cNvPr id="6" name="closing link"/>
          <p:cNvSpPr txBox="1"/>
          <p:nvPr/>
        </p:nvSpPr>
        <p:spPr>
          <a:xfrm>
            <a:off x="457200" y="4366260"/>
            <a:ext cx="8229600" cy="274320"/>
          </a:xfrm>
          <a:prstGeom prst="rect">
            <a:avLst/>
          </a:prstGeom>
          <a:noFill/>
          <a:ln/>
        </p:spPr>
        <p:txBody>
          <a:bodyPr wrap="square" lIns="0" tIns="0" rIns="0" bIns="0" rtlCol="0" anchor="t"/>
          <a:lstStyle/>
          <a:p>
            <a:pPr indent="0" marL="0">
              <a:buNone/>
            </a:pPr>
            <a:r>
              <a:rPr lang="en-US" sz="1050" b="1" dirty="0">
                <a:solidFill>
                  <a:srgbClr val="A9C4EE"/>
                </a:solidFill>
              </a:rPr>
              <a:t>GitLab  </a:t>
            </a:r>
            <a:pPr indent="0" marL="0">
              <a:buNone/>
            </a:pPr>
            <a:r>
              <a:rPr lang="en-US" sz="1050" dirty="0">
                <a:solidFill>
                  <a:srgbClr val="D1D5DB"/>
                </a:solidFill>
              </a:rPr>
              <a:t>gitlab.bionexus.co.kr/bionexus-enterprise/dev/sandbox/jaehyung/bi-pipeline-assistant</a:t>
            </a:r>
            <a:endParaRPr lang="en-US" sz="1050" dirty="0"/>
          </a:p>
        </p:txBody>
      </p:sp>
    </p:spTree>
  </p:cSld>
  <p:clrMapOvr>
    <a:masterClrMapping/>
  </p:clrMapOvr>
</p:sld>
</file>

<file path=ppt/theme/theme1.xml><?xml version="1.0" encoding="utf-8"?>
<a:theme xmlns:a="http://schemas.openxmlformats.org/drawingml/2006/main" name="BI Pipeline Assistant">
  <a:themeElements>
    <a:clrScheme name="BI Pipeline Assistant">
      <a:dk1>
        <a:srgbClr val="111827"/>
      </a:dk1>
      <a:lt1>
        <a:srgbClr val="FFFFFF"/>
      </a:lt1>
      <a:dk2>
        <a:srgbClr val="374151"/>
      </a:dk2>
      <a:lt2>
        <a:srgbClr val="F3F4F6"/>
      </a:lt2>
      <a:accent1>
        <a:srgbClr val="2F5185"/>
      </a:accent1>
      <a:accent2>
        <a:srgbClr val="5A4690"/>
      </a:accent2>
      <a:accent3>
        <a:srgbClr val="2F6B4F"/>
      </a:accent3>
      <a:accent4>
        <a:srgbClr val="9A3F3F"/>
      </a:accent4>
      <a:accent5>
        <a:srgbClr val="86621B"/>
      </a:accent5>
      <a:accent6>
        <a:srgbClr val="6B7280"/>
      </a:accent6>
      <a:hlink>
        <a:srgbClr val="2F5185"/>
      </a:hlink>
      <a:folHlink>
        <a:srgbClr val="5A4690"/>
      </a:folHlink>
    </a:clrScheme>
    <a:fontScheme name="BI Pipeline Assistant">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BioNexus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 Pipeline Assistant 설계 설명</dc:title>
  <dc:subject>PptxGenJS Presentation</dc:subject>
  <dc:creator>BioNexus</dc:creator>
  <cp:lastModifiedBy>BioNexus</cp:lastModifiedBy>
  <cp:revision>1</cp:revision>
  <dcterms:created xsi:type="dcterms:W3CDTF">2026-10-02T14:34:51Z</dcterms:created>
  <dcterms:modified xsi:type="dcterms:W3CDTF">2026-10-02T14:34:51Z</dcterms:modified>
</cp:coreProperties>
</file>